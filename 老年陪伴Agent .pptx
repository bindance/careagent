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media/image12.svg" ContentType="image/svg+xml"/>
  <Override PartName="/ppt/media/image4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  <p:sldMasterId id="2147483651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9" r:id="rId9"/>
    <p:sldId id="260" r:id="rId10"/>
    <p:sldId id="270" r:id="rId11"/>
    <p:sldId id="271" r:id="rId12"/>
    <p:sldId id="272" r:id="rId13"/>
    <p:sldId id="273" r:id="rId14"/>
    <p:sldId id="274" r:id="rId15"/>
    <p:sldId id="266" r:id="rId16"/>
  </p:sldIdLst>
  <p:sldSz cx="12192000" cy="6858000"/>
  <p:notesSz cx="6858000" cy="12192000"/>
  <p:embeddedFontLst>
    <p:embeddedFont>
      <p:font typeface="MiSans" pitchFamily="34" charset="-122"/>
      <p:regular r:id="rId20"/>
    </p:embeddedFont>
    <p:embeddedFont>
      <p:font typeface="MiSans" pitchFamily="34" charset="-120"/>
      <p:regular r:id="rId21"/>
    </p:embeddedFont>
    <p:embeddedFont>
      <p:font typeface="Calibri" panose="020F0502020204030204" charset="0"/>
      <p:regular r:id="rId22"/>
      <p:bold r:id="rId23"/>
      <p:italic r:id="rId24"/>
      <p:boldItalic r:id="rId25"/>
    </p:embeddedFont>
    <p:embeddedFont>
      <p:font typeface="等线" panose="02010600030101010101" charset="-122"/>
      <p:regular r:id="rId26"/>
    </p:embeddedFont>
    <p:embeddedFont>
      <p:font typeface="黑体" panose="02010609060101010101" charset="-122"/>
      <p:regular r:id="rId2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7" Type="http://schemas.openxmlformats.org/officeDocument/2006/relationships/font" Target="fonts/font8.fntdata"/><Relationship Id="rId26" Type="http://schemas.openxmlformats.org/officeDocument/2006/relationships/font" Target="fonts/font7.fntdata"/><Relationship Id="rId25" Type="http://schemas.openxmlformats.org/officeDocument/2006/relationships/font" Target="fonts/font6.fntdata"/><Relationship Id="rId24" Type="http://schemas.openxmlformats.org/officeDocument/2006/relationships/font" Target="fonts/font5.fntdata"/><Relationship Id="rId23" Type="http://schemas.openxmlformats.org/officeDocument/2006/relationships/font" Target="fonts/font4.fntdata"/><Relationship Id="rId22" Type="http://schemas.openxmlformats.org/officeDocument/2006/relationships/font" Target="fonts/font3.fntdata"/><Relationship Id="rId21" Type="http://schemas.openxmlformats.org/officeDocument/2006/relationships/font" Target="fonts/font2.fntdata"/><Relationship Id="rId20" Type="http://schemas.openxmlformats.org/officeDocument/2006/relationships/font" Target="fonts/font1.fntdata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5.jpeg"/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9.xml"/><Relationship Id="rId6" Type="http://schemas.openxmlformats.org/officeDocument/2006/relationships/slideLayout" Target="../slideLayouts/slideLayout3.xml"/><Relationship Id="rId5" Type="http://schemas.openxmlformats.org/officeDocument/2006/relationships/image" Target="../media/image10.png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 descr="a5194bbd-f9ad-43c4-84c4-4f81da8e15a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5A7A6A">
                  <a:alpha val="90000"/>
                </a:srgbClr>
              </a:gs>
              <a:gs pos="50000">
                <a:srgbClr val="5A7A6A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</p:spPr>
      </p:sp>
      <p:sp>
        <p:nvSpPr>
          <p:cNvPr id="4" name="Shape 1"/>
          <p:cNvSpPr/>
          <p:nvPr/>
        </p:nvSpPr>
        <p:spPr>
          <a:xfrm>
            <a:off x="381000" y="802481"/>
            <a:ext cx="2924175" cy="419100"/>
          </a:xfrm>
          <a:custGeom>
            <a:avLst/>
            <a:gdLst/>
            <a:ahLst/>
            <a:cxnLst/>
            <a:rect l="l" t="t" r="r" b="b"/>
            <a:pathLst>
              <a:path w="2924175" h="419100">
                <a:moveTo>
                  <a:pt x="209550" y="0"/>
                </a:moveTo>
                <a:lnTo>
                  <a:pt x="2714625" y="0"/>
                </a:lnTo>
                <a:cubicBezTo>
                  <a:pt x="2830279" y="0"/>
                  <a:pt x="2924175" y="93896"/>
                  <a:pt x="2924175" y="209550"/>
                </a:cubicBezTo>
                <a:lnTo>
                  <a:pt x="2924175" y="209550"/>
                </a:lnTo>
                <a:cubicBezTo>
                  <a:pt x="2924175" y="325204"/>
                  <a:pt x="2830279" y="419100"/>
                  <a:pt x="2714625" y="419100"/>
                </a:cubicBezTo>
                <a:lnTo>
                  <a:pt x="209550" y="419100"/>
                </a:lnTo>
                <a:cubicBezTo>
                  <a:pt x="93896" y="419100"/>
                  <a:pt x="0" y="325204"/>
                  <a:pt x="0" y="209550"/>
                </a:cubicBezTo>
                <a:lnTo>
                  <a:pt x="0" y="209550"/>
                </a:lnTo>
                <a:cubicBezTo>
                  <a:pt x="0" y="93896"/>
                  <a:pt x="93896" y="0"/>
                  <a:pt x="209550" y="0"/>
                </a:cubicBezTo>
                <a:close/>
              </a:path>
            </a:pathLst>
          </a:custGeom>
          <a:solidFill>
            <a:srgbClr val="E6C27C"/>
          </a:solidFill>
        </p:spPr>
      </p:sp>
      <p:sp>
        <p:nvSpPr>
          <p:cNvPr id="5" name="Text 2"/>
          <p:cNvSpPr/>
          <p:nvPr/>
        </p:nvSpPr>
        <p:spPr>
          <a:xfrm>
            <a:off x="571500" y="897731"/>
            <a:ext cx="2630239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kern="0" spc="68" dirty="0">
                <a:solidFill>
                  <a:srgbClr val="3D3D3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AI-POWERED ELDERLY CARE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1526381"/>
            <a:ext cx="7124700" cy="228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F8F7F4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老年陪伴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F8F7F4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Agent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4040981"/>
            <a:ext cx="1219200" cy="57150"/>
          </a:xfrm>
          <a:custGeom>
            <a:avLst/>
            <a:gdLst/>
            <a:ahLst/>
            <a:cxnLst/>
            <a:rect l="l" t="t" r="r" b="b"/>
            <a:pathLst>
              <a:path w="1219200" h="57150">
                <a:moveTo>
                  <a:pt x="0" y="0"/>
                </a:moveTo>
                <a:lnTo>
                  <a:pt x="1219200" y="0"/>
                </a:lnTo>
                <a:lnTo>
                  <a:pt x="1219200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solidFill>
            <a:srgbClr val="E6C27C"/>
          </a:solidFill>
        </p:spPr>
      </p:sp>
      <p:sp>
        <p:nvSpPr>
          <p:cNvPr id="8" name="Text 5"/>
          <p:cNvSpPr/>
          <p:nvPr/>
        </p:nvSpPr>
        <p:spPr>
          <a:xfrm>
            <a:off x="381000" y="4402931"/>
            <a:ext cx="6810375" cy="9334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50" dirty="0">
                <a:solidFill>
                  <a:srgbClr val="F8F7F4">
                    <a:alpha val="95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用科技传递温暖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2250" dirty="0">
                <a:solidFill>
                  <a:srgbClr val="F8F7F4">
                    <a:alpha val="95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让陪伴触手可及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09575" y="5807869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07603" y="38889"/>
                </a:moveTo>
                <a:lnTo>
                  <a:pt x="114300" y="48131"/>
                </a:lnTo>
                <a:lnTo>
                  <a:pt x="120997" y="38889"/>
                </a:lnTo>
                <a:cubicBezTo>
                  <a:pt x="132159" y="23440"/>
                  <a:pt x="150108" y="14288"/>
                  <a:pt x="169173" y="14288"/>
                </a:cubicBezTo>
                <a:cubicBezTo>
                  <a:pt x="201990" y="14288"/>
                  <a:pt x="228600" y="40898"/>
                  <a:pt x="228600" y="73715"/>
                </a:cubicBezTo>
                <a:lnTo>
                  <a:pt x="228600" y="74875"/>
                </a:lnTo>
                <a:cubicBezTo>
                  <a:pt x="228600" y="124971"/>
                  <a:pt x="166137" y="183148"/>
                  <a:pt x="133543" y="208017"/>
                </a:cubicBezTo>
                <a:cubicBezTo>
                  <a:pt x="128007" y="212214"/>
                  <a:pt x="121221" y="214313"/>
                  <a:pt x="114300" y="214313"/>
                </a:cubicBezTo>
                <a:cubicBezTo>
                  <a:pt x="107379" y="214313"/>
                  <a:pt x="100548" y="212259"/>
                  <a:pt x="95057" y="208017"/>
                </a:cubicBezTo>
                <a:cubicBezTo>
                  <a:pt x="62463" y="183148"/>
                  <a:pt x="0" y="124971"/>
                  <a:pt x="0" y="74875"/>
                </a:cubicBezTo>
                <a:lnTo>
                  <a:pt x="0" y="73715"/>
                </a:lnTo>
                <a:cubicBezTo>
                  <a:pt x="0" y="40898"/>
                  <a:pt x="26610" y="14288"/>
                  <a:pt x="59427" y="14288"/>
                </a:cubicBezTo>
                <a:cubicBezTo>
                  <a:pt x="78492" y="14288"/>
                  <a:pt x="96441" y="23440"/>
                  <a:pt x="107603" y="38889"/>
                </a:cubicBezTo>
                <a:close/>
              </a:path>
            </a:pathLst>
          </a:custGeom>
          <a:solidFill>
            <a:srgbClr val="E6C27C"/>
          </a:solidFill>
        </p:spPr>
      </p:sp>
      <p:sp>
        <p:nvSpPr>
          <p:cNvPr id="10" name="Text 7"/>
          <p:cNvSpPr/>
          <p:nvPr/>
        </p:nvSpPr>
        <p:spPr>
          <a:xfrm>
            <a:off x="771525" y="5233670"/>
            <a:ext cx="8961755" cy="14808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zh-CN" altLang="en-US" sz="1500" dirty="0">
                <a:solidFill>
                  <a:srgbClr val="F8F7F4">
                    <a:alpha val="9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汇报人：邱彬</a:t>
            </a:r>
            <a:endParaRPr lang="zh-CN" altLang="en-US" sz="1500" dirty="0">
              <a:solidFill>
                <a:srgbClr val="F8F7F4">
                  <a:alpha val="90000"/>
                </a:srgb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1500" dirty="0">
                <a:solidFill>
                  <a:srgbClr val="F8F7F4">
                    <a:alpha val="9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第二组：邱彬 李宇轩 李佳哲 沈培林 潘瑞</a:t>
            </a:r>
            <a:endParaRPr lang="zh-CN" altLang="en-US" sz="1500" b="1" dirty="0">
              <a:solidFill>
                <a:srgbClr val="F8F7F4">
                  <a:alpha val="90000"/>
                </a:srgb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157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kern="0" spc="135" dirty="0">
                <a:solidFill>
                  <a:srgbClr val="5A7A6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CONTENTS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762000"/>
            <a:ext cx="11715750" cy="571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500" b="1" dirty="0">
                <a:solidFill>
                  <a:srgbClr val="3D3D3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目录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524000"/>
            <a:ext cx="914400" cy="57150"/>
          </a:xfrm>
          <a:custGeom>
            <a:avLst/>
            <a:gdLst/>
            <a:ahLst/>
            <a:cxnLst/>
            <a:rect l="l" t="t" r="r" b="b"/>
            <a:pathLst>
              <a:path w="914400" h="57150">
                <a:moveTo>
                  <a:pt x="0" y="0"/>
                </a:moveTo>
                <a:lnTo>
                  <a:pt x="914400" y="0"/>
                </a:lnTo>
                <a:lnTo>
                  <a:pt x="914400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solidFill>
            <a:srgbClr val="E6C27C"/>
          </a:solidFill>
        </p:spPr>
      </p:sp>
      <p:sp>
        <p:nvSpPr>
          <p:cNvPr id="5" name="Shape 3"/>
          <p:cNvSpPr/>
          <p:nvPr/>
        </p:nvSpPr>
        <p:spPr>
          <a:xfrm>
            <a:off x="381000" y="196215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152400" y="0"/>
                </a:moveTo>
                <a:lnTo>
                  <a:pt x="609600" y="0"/>
                </a:lnTo>
                <a:cubicBezTo>
                  <a:pt x="693712" y="0"/>
                  <a:pt x="762000" y="68288"/>
                  <a:pt x="762000" y="152400"/>
                </a:cubicBezTo>
                <a:lnTo>
                  <a:pt x="762000" y="609600"/>
                </a:lnTo>
                <a:cubicBezTo>
                  <a:pt x="762000" y="693712"/>
                  <a:pt x="693712" y="762000"/>
                  <a:pt x="609600" y="762000"/>
                </a:cubicBezTo>
                <a:lnTo>
                  <a:pt x="152400" y="762000"/>
                </a:lnTo>
                <a:cubicBezTo>
                  <a:pt x="68288" y="762000"/>
                  <a:pt x="0" y="693712"/>
                  <a:pt x="0" y="6096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5A7A6A"/>
          </a:solidFill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86978" y="2152650"/>
            <a:ext cx="52387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8F7F4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2038350"/>
            <a:ext cx="463867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3D3D3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背景与问题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2495550"/>
            <a:ext cx="4591050" cy="3143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3D3D3D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老龄化社会的照护困境与现有产品痛点分析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324600" y="196215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152400" y="0"/>
                </a:moveTo>
                <a:lnTo>
                  <a:pt x="609600" y="0"/>
                </a:lnTo>
                <a:cubicBezTo>
                  <a:pt x="693712" y="0"/>
                  <a:pt x="762000" y="68288"/>
                  <a:pt x="762000" y="152400"/>
                </a:cubicBezTo>
                <a:lnTo>
                  <a:pt x="762000" y="609600"/>
                </a:lnTo>
                <a:cubicBezTo>
                  <a:pt x="762000" y="693712"/>
                  <a:pt x="693712" y="762000"/>
                  <a:pt x="609600" y="762000"/>
                </a:cubicBezTo>
                <a:lnTo>
                  <a:pt x="152400" y="762000"/>
                </a:lnTo>
                <a:cubicBezTo>
                  <a:pt x="68288" y="762000"/>
                  <a:pt x="0" y="693712"/>
                  <a:pt x="0" y="6096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B88A75"/>
          </a:solidFill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01705" y="2152650"/>
            <a:ext cx="58102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8F7F4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0" y="2038350"/>
            <a:ext cx="463867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3D3D3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产品解决方案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0" y="2495550"/>
            <a:ext cx="4591050" cy="3143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3D3D3D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构建自然、主动的陪伴体系与双重价值主张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81000" y="3568601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152400" y="0"/>
                </a:moveTo>
                <a:lnTo>
                  <a:pt x="609600" y="0"/>
                </a:lnTo>
                <a:cubicBezTo>
                  <a:pt x="693712" y="0"/>
                  <a:pt x="762000" y="68288"/>
                  <a:pt x="762000" y="152400"/>
                </a:cubicBezTo>
                <a:lnTo>
                  <a:pt x="762000" y="609600"/>
                </a:lnTo>
                <a:cubicBezTo>
                  <a:pt x="762000" y="693712"/>
                  <a:pt x="693712" y="762000"/>
                  <a:pt x="609600" y="762000"/>
                </a:cubicBezTo>
                <a:lnTo>
                  <a:pt x="152400" y="762000"/>
                </a:lnTo>
                <a:cubicBezTo>
                  <a:pt x="68288" y="762000"/>
                  <a:pt x="0" y="693712"/>
                  <a:pt x="0" y="6096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E6C27C"/>
          </a:solidFill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53641" y="3759101"/>
            <a:ext cx="5905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3D3D3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3644801"/>
            <a:ext cx="463867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3D3D3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老人端设计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71600" y="4102001"/>
            <a:ext cx="4591050" cy="3143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3D3D3D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Embodied Agent 零学习成本的自然交互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324600" y="3568601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152400" y="0"/>
                </a:moveTo>
                <a:lnTo>
                  <a:pt x="609600" y="0"/>
                </a:lnTo>
                <a:cubicBezTo>
                  <a:pt x="693712" y="0"/>
                  <a:pt x="762000" y="68288"/>
                  <a:pt x="762000" y="152400"/>
                </a:cubicBezTo>
                <a:lnTo>
                  <a:pt x="762000" y="609600"/>
                </a:lnTo>
                <a:cubicBezTo>
                  <a:pt x="762000" y="693712"/>
                  <a:pt x="693712" y="762000"/>
                  <a:pt x="609600" y="762000"/>
                </a:cubicBezTo>
                <a:lnTo>
                  <a:pt x="152400" y="762000"/>
                </a:lnTo>
                <a:cubicBezTo>
                  <a:pt x="68288" y="762000"/>
                  <a:pt x="0" y="693712"/>
                  <a:pt x="0" y="6096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5A7A6A"/>
          </a:solidFill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97538" y="3759101"/>
            <a:ext cx="5905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8F7F4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315200" y="3644801"/>
            <a:ext cx="463867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3D3D3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家属端功能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315200" y="4102001"/>
            <a:ext cx="4591050" cy="3143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3D3D3D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一站式陪护管理中心与四大核心模块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81000" y="51752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152400" y="0"/>
                </a:moveTo>
                <a:lnTo>
                  <a:pt x="609600" y="0"/>
                </a:lnTo>
                <a:cubicBezTo>
                  <a:pt x="693712" y="0"/>
                  <a:pt x="762000" y="68288"/>
                  <a:pt x="762000" y="152400"/>
                </a:cubicBezTo>
                <a:lnTo>
                  <a:pt x="762000" y="609600"/>
                </a:lnTo>
                <a:cubicBezTo>
                  <a:pt x="762000" y="693712"/>
                  <a:pt x="693712" y="762000"/>
                  <a:pt x="609600" y="762000"/>
                </a:cubicBezTo>
                <a:lnTo>
                  <a:pt x="152400" y="762000"/>
                </a:lnTo>
                <a:cubicBezTo>
                  <a:pt x="68288" y="762000"/>
                  <a:pt x="0" y="693712"/>
                  <a:pt x="0" y="6096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B88A75"/>
          </a:solidFill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52004" y="5365700"/>
            <a:ext cx="5905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8F7F4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71600" y="5251400"/>
            <a:ext cx="1058227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3D3D3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总结展望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371600" y="5708600"/>
            <a:ext cx="10534650" cy="3143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3D3D3D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用科技守护银发时光，让爱与陪伴永不缺席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20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kern="0" spc="100" dirty="0">
                <a:solidFill>
                  <a:srgbClr val="5A7A6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BACKGROUND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04800" y="596900"/>
            <a:ext cx="1174750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00" b="1" dirty="0">
                <a:solidFill>
                  <a:srgbClr val="3D3D3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背景：老龄化社会的照护困境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17500" y="1079500"/>
            <a:ext cx="635000" cy="31750"/>
          </a:xfrm>
          <a:custGeom>
            <a:avLst/>
            <a:gdLst/>
            <a:ahLst/>
            <a:cxnLst/>
            <a:rect l="l" t="t" r="r" b="b"/>
            <a:pathLst>
              <a:path w="635000" h="31750">
                <a:moveTo>
                  <a:pt x="0" y="0"/>
                </a:moveTo>
                <a:lnTo>
                  <a:pt x="635000" y="0"/>
                </a:lnTo>
                <a:lnTo>
                  <a:pt x="635000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E6C27C"/>
          </a:solidFill>
        </p:spPr>
      </p:sp>
      <p:sp>
        <p:nvSpPr>
          <p:cNvPr id="5" name="Shape 3"/>
          <p:cNvSpPr/>
          <p:nvPr/>
        </p:nvSpPr>
        <p:spPr>
          <a:xfrm>
            <a:off x="3028315" y="2004457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5A7A6A"/>
          </a:solidFill>
        </p:spPr>
      </p:sp>
      <p:sp>
        <p:nvSpPr>
          <p:cNvPr id="6" name="Shape 4"/>
          <p:cNvSpPr/>
          <p:nvPr/>
        </p:nvSpPr>
        <p:spPr>
          <a:xfrm>
            <a:off x="3119596" y="2115582"/>
            <a:ext cx="198438" cy="158750"/>
          </a:xfrm>
          <a:custGeom>
            <a:avLst/>
            <a:gdLst/>
            <a:ahLst/>
            <a:cxnLst/>
            <a:rect l="l" t="t" r="r" b="b"/>
            <a:pathLst>
              <a:path w="198438" h="158750">
                <a:moveTo>
                  <a:pt x="99219" y="4961"/>
                </a:moveTo>
                <a:cubicBezTo>
                  <a:pt x="117016" y="4961"/>
                  <a:pt x="131465" y="19410"/>
                  <a:pt x="131465" y="37207"/>
                </a:cubicBezTo>
                <a:cubicBezTo>
                  <a:pt x="131465" y="55004"/>
                  <a:pt x="117016" y="69453"/>
                  <a:pt x="99219" y="69453"/>
                </a:cubicBezTo>
                <a:cubicBezTo>
                  <a:pt x="81422" y="69453"/>
                  <a:pt x="66973" y="55004"/>
                  <a:pt x="66973" y="37207"/>
                </a:cubicBezTo>
                <a:cubicBezTo>
                  <a:pt x="66973" y="19410"/>
                  <a:pt x="81422" y="4961"/>
                  <a:pt x="99219" y="4961"/>
                </a:cubicBezTo>
                <a:close/>
                <a:moveTo>
                  <a:pt x="29766" y="27285"/>
                </a:moveTo>
                <a:cubicBezTo>
                  <a:pt x="42087" y="27285"/>
                  <a:pt x="52090" y="37288"/>
                  <a:pt x="52090" y="49609"/>
                </a:cubicBezTo>
                <a:cubicBezTo>
                  <a:pt x="52090" y="61930"/>
                  <a:pt x="42087" y="71934"/>
                  <a:pt x="29766" y="71934"/>
                </a:cubicBezTo>
                <a:cubicBezTo>
                  <a:pt x="17445" y="71934"/>
                  <a:pt x="7441" y="61930"/>
                  <a:pt x="7441" y="49609"/>
                </a:cubicBezTo>
                <a:cubicBezTo>
                  <a:pt x="7441" y="37288"/>
                  <a:pt x="17445" y="27285"/>
                  <a:pt x="29766" y="27285"/>
                </a:cubicBezTo>
                <a:close/>
                <a:moveTo>
                  <a:pt x="0" y="128984"/>
                </a:moveTo>
                <a:cubicBezTo>
                  <a:pt x="0" y="107063"/>
                  <a:pt x="17766" y="89297"/>
                  <a:pt x="39688" y="89297"/>
                </a:cubicBezTo>
                <a:cubicBezTo>
                  <a:pt x="43656" y="89297"/>
                  <a:pt x="47501" y="89886"/>
                  <a:pt x="51129" y="90971"/>
                </a:cubicBezTo>
                <a:cubicBezTo>
                  <a:pt x="40928" y="102381"/>
                  <a:pt x="34727" y="117450"/>
                  <a:pt x="34727" y="133945"/>
                </a:cubicBezTo>
                <a:lnTo>
                  <a:pt x="34727" y="138906"/>
                </a:lnTo>
                <a:cubicBezTo>
                  <a:pt x="34727" y="142441"/>
                  <a:pt x="35471" y="145790"/>
                  <a:pt x="36804" y="148828"/>
                </a:cubicBezTo>
                <a:lnTo>
                  <a:pt x="9922" y="148828"/>
                </a:lnTo>
                <a:cubicBezTo>
                  <a:pt x="4434" y="148828"/>
                  <a:pt x="0" y="144394"/>
                  <a:pt x="0" y="138906"/>
                </a:cubicBezTo>
                <a:lnTo>
                  <a:pt x="0" y="128984"/>
                </a:lnTo>
                <a:close/>
                <a:moveTo>
                  <a:pt x="161634" y="148828"/>
                </a:moveTo>
                <a:cubicBezTo>
                  <a:pt x="162967" y="145790"/>
                  <a:pt x="163711" y="142441"/>
                  <a:pt x="163711" y="138906"/>
                </a:cubicBezTo>
                <a:lnTo>
                  <a:pt x="163711" y="133945"/>
                </a:lnTo>
                <a:cubicBezTo>
                  <a:pt x="163711" y="117450"/>
                  <a:pt x="157510" y="102381"/>
                  <a:pt x="147309" y="90971"/>
                </a:cubicBezTo>
                <a:cubicBezTo>
                  <a:pt x="150937" y="89886"/>
                  <a:pt x="154781" y="89297"/>
                  <a:pt x="158750" y="89297"/>
                </a:cubicBezTo>
                <a:cubicBezTo>
                  <a:pt x="180671" y="89297"/>
                  <a:pt x="198438" y="107063"/>
                  <a:pt x="198438" y="128984"/>
                </a:cubicBezTo>
                <a:lnTo>
                  <a:pt x="198438" y="138906"/>
                </a:lnTo>
                <a:cubicBezTo>
                  <a:pt x="198438" y="144394"/>
                  <a:pt x="194004" y="148828"/>
                  <a:pt x="188516" y="148828"/>
                </a:cubicBezTo>
                <a:lnTo>
                  <a:pt x="161634" y="148828"/>
                </a:lnTo>
                <a:close/>
                <a:moveTo>
                  <a:pt x="146348" y="49609"/>
                </a:moveTo>
                <a:cubicBezTo>
                  <a:pt x="146348" y="37288"/>
                  <a:pt x="156351" y="27285"/>
                  <a:pt x="168672" y="27285"/>
                </a:cubicBezTo>
                <a:cubicBezTo>
                  <a:pt x="180993" y="27285"/>
                  <a:pt x="190996" y="37288"/>
                  <a:pt x="190996" y="49609"/>
                </a:cubicBezTo>
                <a:cubicBezTo>
                  <a:pt x="190996" y="61930"/>
                  <a:pt x="180993" y="71934"/>
                  <a:pt x="168672" y="71934"/>
                </a:cubicBezTo>
                <a:cubicBezTo>
                  <a:pt x="156351" y="71934"/>
                  <a:pt x="146348" y="61930"/>
                  <a:pt x="146348" y="49609"/>
                </a:cubicBezTo>
                <a:close/>
                <a:moveTo>
                  <a:pt x="49609" y="133945"/>
                </a:moveTo>
                <a:cubicBezTo>
                  <a:pt x="49609" y="106536"/>
                  <a:pt x="71810" y="84336"/>
                  <a:pt x="99219" y="84336"/>
                </a:cubicBezTo>
                <a:cubicBezTo>
                  <a:pt x="126628" y="84336"/>
                  <a:pt x="148828" y="106536"/>
                  <a:pt x="148828" y="133945"/>
                </a:cubicBezTo>
                <a:lnTo>
                  <a:pt x="148828" y="138906"/>
                </a:lnTo>
                <a:cubicBezTo>
                  <a:pt x="148828" y="144394"/>
                  <a:pt x="144394" y="148828"/>
                  <a:pt x="138906" y="148828"/>
                </a:cubicBezTo>
                <a:lnTo>
                  <a:pt x="59531" y="148828"/>
                </a:lnTo>
                <a:cubicBezTo>
                  <a:pt x="54043" y="148828"/>
                  <a:pt x="49609" y="144394"/>
                  <a:pt x="49609" y="138906"/>
                </a:cubicBezTo>
                <a:lnTo>
                  <a:pt x="49609" y="133945"/>
                </a:lnTo>
                <a:close/>
              </a:path>
            </a:pathLst>
          </a:custGeom>
          <a:solidFill>
            <a:srgbClr val="F8F7F4"/>
          </a:solidFill>
        </p:spPr>
      </p:sp>
      <p:sp>
        <p:nvSpPr>
          <p:cNvPr id="7" name="Text 5"/>
          <p:cNvSpPr/>
          <p:nvPr/>
        </p:nvSpPr>
        <p:spPr>
          <a:xfrm>
            <a:off x="3504565" y="2067957"/>
            <a:ext cx="85725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3D3D3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社会现状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028315" y="2512457"/>
            <a:ext cx="5722938" cy="857250"/>
          </a:xfrm>
          <a:prstGeom prst="rect">
            <a:avLst/>
          </a:prstGeom>
          <a:noFill/>
        </p:spPr>
        <p:txBody>
          <a:bodyPr wrap="square" lIns="47625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125" dirty="0">
                <a:solidFill>
                  <a:srgbClr val="3D3D3D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随着人口老龄化持续加深，越来越多老人在日常生活中面临诸多不便——</a:t>
            </a:r>
            <a:r>
              <a:rPr lang="en-US" sz="1125" dirty="0">
                <a:solidFill>
                  <a:srgbClr val="5A7A6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何时用药、需要陪伴、提醒和关怀</a:t>
            </a:r>
            <a:r>
              <a:rPr lang="en-US" sz="1125" dirty="0">
                <a:solidFill>
                  <a:srgbClr val="3D3D3D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。然而，在城市生活节奏加快的背景下，许多人却难以长期、持续地陪伴和照顾身边的老人。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028315" y="3623707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B88A75"/>
          </a:solidFill>
        </p:spPr>
      </p:sp>
      <p:sp>
        <p:nvSpPr>
          <p:cNvPr id="10" name="Shape 8"/>
          <p:cNvSpPr/>
          <p:nvPr/>
        </p:nvSpPr>
        <p:spPr>
          <a:xfrm>
            <a:off x="3139440" y="3734832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9375" y="0"/>
                </a:moveTo>
                <a:cubicBezTo>
                  <a:pt x="83933" y="0"/>
                  <a:pt x="88119" y="2511"/>
                  <a:pt x="90289" y="6511"/>
                </a:cubicBezTo>
                <a:lnTo>
                  <a:pt x="157262" y="130535"/>
                </a:lnTo>
                <a:cubicBezTo>
                  <a:pt x="159339" y="134379"/>
                  <a:pt x="159246" y="139030"/>
                  <a:pt x="157014" y="142782"/>
                </a:cubicBezTo>
                <a:cubicBezTo>
                  <a:pt x="154781" y="146534"/>
                  <a:pt x="150719" y="148828"/>
                  <a:pt x="146348" y="148828"/>
                </a:cubicBezTo>
                <a:lnTo>
                  <a:pt x="12402" y="148828"/>
                </a:lnTo>
                <a:cubicBezTo>
                  <a:pt x="8031" y="148828"/>
                  <a:pt x="4000" y="146534"/>
                  <a:pt x="1736" y="142782"/>
                </a:cubicBezTo>
                <a:cubicBezTo>
                  <a:pt x="-527" y="139030"/>
                  <a:pt x="-589" y="134379"/>
                  <a:pt x="1488" y="130535"/>
                </a:cubicBezTo>
                <a:lnTo>
                  <a:pt x="68461" y="6511"/>
                </a:lnTo>
                <a:cubicBezTo>
                  <a:pt x="70631" y="2511"/>
                  <a:pt x="74817" y="0"/>
                  <a:pt x="79375" y="0"/>
                </a:cubicBezTo>
                <a:close/>
                <a:moveTo>
                  <a:pt x="79375" y="52090"/>
                </a:moveTo>
                <a:cubicBezTo>
                  <a:pt x="75251" y="52090"/>
                  <a:pt x="71934" y="55407"/>
                  <a:pt x="71934" y="59531"/>
                </a:cubicBezTo>
                <a:lnTo>
                  <a:pt x="71934" y="94258"/>
                </a:lnTo>
                <a:cubicBezTo>
                  <a:pt x="71934" y="98382"/>
                  <a:pt x="75251" y="101699"/>
                  <a:pt x="79375" y="101699"/>
                </a:cubicBezTo>
                <a:cubicBezTo>
                  <a:pt x="83499" y="101699"/>
                  <a:pt x="86816" y="98382"/>
                  <a:pt x="86816" y="94258"/>
                </a:cubicBezTo>
                <a:lnTo>
                  <a:pt x="86816" y="59531"/>
                </a:lnTo>
                <a:cubicBezTo>
                  <a:pt x="86816" y="55407"/>
                  <a:pt x="83499" y="52090"/>
                  <a:pt x="79375" y="52090"/>
                </a:cubicBezTo>
                <a:close/>
                <a:moveTo>
                  <a:pt x="87654" y="119062"/>
                </a:moveTo>
                <a:cubicBezTo>
                  <a:pt x="87842" y="115990"/>
                  <a:pt x="86309" y="113066"/>
                  <a:pt x="83675" y="111473"/>
                </a:cubicBezTo>
                <a:cubicBezTo>
                  <a:pt x="81041" y="109879"/>
                  <a:pt x="77740" y="109879"/>
                  <a:pt x="75106" y="111473"/>
                </a:cubicBezTo>
                <a:cubicBezTo>
                  <a:pt x="72472" y="113066"/>
                  <a:pt x="70939" y="115990"/>
                  <a:pt x="71127" y="119062"/>
                </a:cubicBezTo>
                <a:cubicBezTo>
                  <a:pt x="70939" y="122135"/>
                  <a:pt x="72472" y="125059"/>
                  <a:pt x="75106" y="126652"/>
                </a:cubicBezTo>
                <a:cubicBezTo>
                  <a:pt x="77740" y="128246"/>
                  <a:pt x="81041" y="128246"/>
                  <a:pt x="83675" y="126652"/>
                </a:cubicBezTo>
                <a:cubicBezTo>
                  <a:pt x="86309" y="125059"/>
                  <a:pt x="87842" y="122135"/>
                  <a:pt x="87654" y="119062"/>
                </a:cubicBezTo>
                <a:close/>
              </a:path>
            </a:pathLst>
          </a:custGeom>
          <a:solidFill>
            <a:srgbClr val="F8F7F4"/>
          </a:solidFill>
        </p:spPr>
      </p:sp>
      <p:sp>
        <p:nvSpPr>
          <p:cNvPr id="11" name="Text 9"/>
          <p:cNvSpPr/>
          <p:nvPr/>
        </p:nvSpPr>
        <p:spPr>
          <a:xfrm>
            <a:off x="3504565" y="3687207"/>
            <a:ext cx="123825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3D3D3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现有产品痛点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504565" y="4131707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E6C27C"/>
          </a:solidFill>
        </p:spPr>
      </p:sp>
      <p:sp>
        <p:nvSpPr>
          <p:cNvPr id="13" name="Text 11"/>
          <p:cNvSpPr/>
          <p:nvPr/>
        </p:nvSpPr>
        <p:spPr>
          <a:xfrm>
            <a:off x="3472815" y="4131707"/>
            <a:ext cx="3175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3D3D3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853815" y="4131707"/>
            <a:ext cx="4349750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3D3D3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硬件告警类产品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853815" y="4385707"/>
            <a:ext cx="4341813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3D3D3D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跌倒报警、紧急呼叫等，只能在"出事之后"被动响应，缺少持续性的日常陪伴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504565" y="4703207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E6C27C"/>
          </a:solidFill>
        </p:spPr>
      </p:sp>
      <p:sp>
        <p:nvSpPr>
          <p:cNvPr id="17" name="Text 15"/>
          <p:cNvSpPr/>
          <p:nvPr/>
        </p:nvSpPr>
        <p:spPr>
          <a:xfrm>
            <a:off x="3472815" y="4703207"/>
            <a:ext cx="3175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3D3D3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853815" y="4703207"/>
            <a:ext cx="4008438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3D3D3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功能复杂类产品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853815" y="4957207"/>
            <a:ext cx="4000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3D3D3D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操作复杂，老人学习成本高，家属难以获得结构化、可追踪的状态反馈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120" dirty="0">
                <a:solidFill>
                  <a:srgbClr val="5A7A6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CORE PROBLEM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3D3D3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核心问题：如何构建自然、主动的陪伴体系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295400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0" y="0"/>
                </a:moveTo>
                <a:lnTo>
                  <a:pt x="762000" y="0"/>
                </a:lnTo>
                <a:lnTo>
                  <a:pt x="762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E6C27C"/>
          </a:solidFill>
        </p:spPr>
      </p:sp>
      <p:sp>
        <p:nvSpPr>
          <p:cNvPr id="5" name="Shape 3"/>
          <p:cNvSpPr/>
          <p:nvPr/>
        </p:nvSpPr>
        <p:spPr>
          <a:xfrm>
            <a:off x="381000" y="1562100"/>
            <a:ext cx="11430000" cy="1724025"/>
          </a:xfrm>
          <a:custGeom>
            <a:avLst/>
            <a:gdLst/>
            <a:ahLst/>
            <a:cxnLst/>
            <a:rect l="l" t="t" r="r" b="b"/>
            <a:pathLst>
              <a:path w="11430000" h="1724025">
                <a:moveTo>
                  <a:pt x="152404" y="0"/>
                </a:moveTo>
                <a:lnTo>
                  <a:pt x="11277596" y="0"/>
                </a:lnTo>
                <a:cubicBezTo>
                  <a:pt x="11361766" y="0"/>
                  <a:pt x="11430000" y="68234"/>
                  <a:pt x="11430000" y="152404"/>
                </a:cubicBezTo>
                <a:lnTo>
                  <a:pt x="11430000" y="1571621"/>
                </a:lnTo>
                <a:cubicBezTo>
                  <a:pt x="11430000" y="1655791"/>
                  <a:pt x="11361766" y="1724025"/>
                  <a:pt x="11277596" y="1724025"/>
                </a:cubicBezTo>
                <a:lnTo>
                  <a:pt x="152404" y="1724025"/>
                </a:lnTo>
                <a:cubicBezTo>
                  <a:pt x="68234" y="1724025"/>
                  <a:pt x="0" y="1655791"/>
                  <a:pt x="0" y="1571621"/>
                </a:cubicBezTo>
                <a:lnTo>
                  <a:pt x="0" y="152404"/>
                </a:lnTo>
                <a:cubicBezTo>
                  <a:pt x="0" y="68234"/>
                  <a:pt x="68234" y="0"/>
                  <a:pt x="152404" y="0"/>
                </a:cubicBezTo>
                <a:close/>
              </a:path>
            </a:pathLst>
          </a:custGeom>
          <a:solidFill>
            <a:srgbClr val="5A7A6A"/>
          </a:solidFill>
        </p:spPr>
      </p:sp>
      <p:sp>
        <p:nvSpPr>
          <p:cNvPr id="6" name="Shape 4"/>
          <p:cNvSpPr/>
          <p:nvPr/>
        </p:nvSpPr>
        <p:spPr>
          <a:xfrm>
            <a:off x="685800" y="18669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1000" y="0"/>
                </a:moveTo>
                <a:lnTo>
                  <a:pt x="381000" y="0"/>
                </a:lnTo>
                <a:cubicBezTo>
                  <a:pt x="591280" y="0"/>
                  <a:pt x="762000" y="170720"/>
                  <a:pt x="762000" y="381000"/>
                </a:cubicBezTo>
                <a:lnTo>
                  <a:pt x="762000" y="381000"/>
                </a:lnTo>
                <a:cubicBezTo>
                  <a:pt x="762000" y="591280"/>
                  <a:pt x="591280" y="762000"/>
                  <a:pt x="381000" y="762000"/>
                </a:cubicBezTo>
                <a:lnTo>
                  <a:pt x="381000" y="762000"/>
                </a:lnTo>
                <a:cubicBezTo>
                  <a:pt x="170720" y="762000"/>
                  <a:pt x="0" y="591280"/>
                  <a:pt x="0" y="381000"/>
                </a:cubicBezTo>
                <a:lnTo>
                  <a:pt x="0" y="381000"/>
                </a:lnTo>
                <a:cubicBezTo>
                  <a:pt x="0" y="170720"/>
                  <a:pt x="170720" y="0"/>
                  <a:pt x="381000" y="0"/>
                </a:cubicBezTo>
                <a:close/>
              </a:path>
            </a:pathLst>
          </a:custGeom>
          <a:solidFill>
            <a:srgbClr val="E6C27C"/>
          </a:solidFill>
        </p:spPr>
      </p:sp>
      <p:sp>
        <p:nvSpPr>
          <p:cNvPr id="7" name="Shape 5"/>
          <p:cNvSpPr/>
          <p:nvPr/>
        </p:nvSpPr>
        <p:spPr>
          <a:xfrm>
            <a:off x="959644" y="2076450"/>
            <a:ext cx="214313" cy="342900"/>
          </a:xfrm>
          <a:custGeom>
            <a:avLst/>
            <a:gdLst/>
            <a:ahLst/>
            <a:cxnLst/>
            <a:rect l="l" t="t" r="r" b="b"/>
            <a:pathLst>
              <a:path w="214313" h="342900">
                <a:moveTo>
                  <a:pt x="42863" y="107156"/>
                </a:moveTo>
                <a:cubicBezTo>
                  <a:pt x="42863" y="71661"/>
                  <a:pt x="71661" y="42863"/>
                  <a:pt x="107156" y="42863"/>
                </a:cubicBezTo>
                <a:cubicBezTo>
                  <a:pt x="142652" y="42863"/>
                  <a:pt x="171450" y="71661"/>
                  <a:pt x="171450" y="107156"/>
                </a:cubicBezTo>
                <a:cubicBezTo>
                  <a:pt x="171450" y="135754"/>
                  <a:pt x="152765" y="159998"/>
                  <a:pt x="126913" y="168369"/>
                </a:cubicBezTo>
                <a:cubicBezTo>
                  <a:pt x="107893" y="174531"/>
                  <a:pt x="85725" y="192011"/>
                  <a:pt x="85725" y="219670"/>
                </a:cubicBezTo>
                <a:lnTo>
                  <a:pt x="85725" y="235744"/>
                </a:lnTo>
                <a:cubicBezTo>
                  <a:pt x="85725" y="247598"/>
                  <a:pt x="95302" y="257175"/>
                  <a:pt x="107156" y="257175"/>
                </a:cubicBezTo>
                <a:cubicBezTo>
                  <a:pt x="119010" y="257175"/>
                  <a:pt x="128588" y="247598"/>
                  <a:pt x="128588" y="235744"/>
                </a:cubicBezTo>
                <a:lnTo>
                  <a:pt x="128588" y="219670"/>
                </a:lnTo>
                <a:cubicBezTo>
                  <a:pt x="128588" y="218532"/>
                  <a:pt x="128989" y="216924"/>
                  <a:pt x="130932" y="214781"/>
                </a:cubicBezTo>
                <a:cubicBezTo>
                  <a:pt x="132941" y="212571"/>
                  <a:pt x="136222" y="210428"/>
                  <a:pt x="140107" y="209156"/>
                </a:cubicBezTo>
                <a:cubicBezTo>
                  <a:pt x="183170" y="195292"/>
                  <a:pt x="214313" y="154908"/>
                  <a:pt x="214313" y="107156"/>
                </a:cubicBezTo>
                <a:cubicBezTo>
                  <a:pt x="214313" y="47952"/>
                  <a:pt x="166360" y="0"/>
                  <a:pt x="107156" y="0"/>
                </a:cubicBezTo>
                <a:cubicBezTo>
                  <a:pt x="47952" y="0"/>
                  <a:pt x="0" y="47952"/>
                  <a:pt x="0" y="107156"/>
                </a:cubicBezTo>
                <a:cubicBezTo>
                  <a:pt x="0" y="119010"/>
                  <a:pt x="9577" y="128588"/>
                  <a:pt x="21431" y="128588"/>
                </a:cubicBezTo>
                <a:cubicBezTo>
                  <a:pt x="33285" y="128588"/>
                  <a:pt x="42863" y="119010"/>
                  <a:pt x="42863" y="107156"/>
                </a:cubicBezTo>
                <a:close/>
                <a:moveTo>
                  <a:pt x="107156" y="342900"/>
                </a:moveTo>
                <a:cubicBezTo>
                  <a:pt x="121957" y="342900"/>
                  <a:pt x="133945" y="330912"/>
                  <a:pt x="133945" y="316111"/>
                </a:cubicBezTo>
                <a:cubicBezTo>
                  <a:pt x="133945" y="301310"/>
                  <a:pt x="121957" y="289322"/>
                  <a:pt x="107156" y="289322"/>
                </a:cubicBezTo>
                <a:cubicBezTo>
                  <a:pt x="92355" y="289322"/>
                  <a:pt x="80367" y="301310"/>
                  <a:pt x="80367" y="316111"/>
                </a:cubicBezTo>
                <a:cubicBezTo>
                  <a:pt x="80367" y="330912"/>
                  <a:pt x="92355" y="342900"/>
                  <a:pt x="107156" y="342900"/>
                </a:cubicBezTo>
                <a:close/>
              </a:path>
            </a:pathLst>
          </a:custGeom>
          <a:solidFill>
            <a:srgbClr val="3D3D3D"/>
          </a:solidFill>
        </p:spPr>
      </p:sp>
      <p:sp>
        <p:nvSpPr>
          <p:cNvPr id="8" name="Text 6"/>
          <p:cNvSpPr/>
          <p:nvPr/>
        </p:nvSpPr>
        <p:spPr>
          <a:xfrm>
            <a:off x="1676400" y="1866900"/>
            <a:ext cx="997267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8F7F4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我们要解决的核心问题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76400" y="2362200"/>
            <a:ext cx="9925050" cy="6191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F8F7F4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能不能用一种</a:t>
            </a:r>
            <a:r>
              <a:rPr lang="en-US" sz="1500" b="1" dirty="0">
                <a:solidFill>
                  <a:srgbClr val="3D3D3D"/>
                </a:solidFill>
                <a:highlight>
                  <a:srgbClr val="E6C27C">
                    <a:alpha val="100000"/>
                  </a:srgbClr>
                </a:highlight>
                <a:latin typeface="MiSans" pitchFamily="34" charset="-122"/>
                <a:ea typeface="MiSans" pitchFamily="34" charset="-122"/>
                <a:cs typeface="MiSans" pitchFamily="34" charset="-120"/>
              </a:rPr>
              <a:t> 更自然、更主动 </a:t>
            </a:r>
            <a:r>
              <a:rPr lang="en-US" sz="1500" dirty="0">
                <a:solidFill>
                  <a:srgbClr val="F8F7F4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的方式，让老人几乎不需要学习复杂操作，就能获得持续陪护；同时让家属也能低成本地参与照护，并获得</a:t>
            </a:r>
            <a:r>
              <a:rPr lang="en-US" sz="1500" b="1" dirty="0">
                <a:solidFill>
                  <a:srgbClr val="3D3D3D"/>
                </a:solidFill>
                <a:highlight>
                  <a:srgbClr val="E6C27C">
                    <a:alpha val="100000"/>
                  </a:srgbClr>
                </a:highlight>
                <a:latin typeface="MiSans" pitchFamily="34" charset="-122"/>
                <a:ea typeface="MiSans" pitchFamily="34" charset="-122"/>
                <a:cs typeface="MiSans" pitchFamily="34" charset="-120"/>
              </a:rPr>
              <a:t> 清晰、可信 </a:t>
            </a:r>
            <a:r>
              <a:rPr lang="en-US" sz="1500" dirty="0">
                <a:solidFill>
                  <a:srgbClr val="F8F7F4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的反馈。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00050" y="3514725"/>
            <a:ext cx="5581650" cy="2962275"/>
          </a:xfrm>
          <a:custGeom>
            <a:avLst/>
            <a:gdLst/>
            <a:ahLst/>
            <a:cxnLst/>
            <a:rect l="l" t="t" r="r" b="b"/>
            <a:pathLst>
              <a:path w="5581650" h="2962275">
                <a:moveTo>
                  <a:pt x="38100" y="0"/>
                </a:moveTo>
                <a:lnTo>
                  <a:pt x="5429241" y="0"/>
                </a:lnTo>
                <a:cubicBezTo>
                  <a:pt x="5513414" y="0"/>
                  <a:pt x="5581650" y="68236"/>
                  <a:pt x="5581650" y="152409"/>
                </a:cubicBezTo>
                <a:lnTo>
                  <a:pt x="5581650" y="2809866"/>
                </a:lnTo>
                <a:cubicBezTo>
                  <a:pt x="5581650" y="2894039"/>
                  <a:pt x="5513414" y="2962275"/>
                  <a:pt x="5429241" y="2962275"/>
                </a:cubicBezTo>
                <a:lnTo>
                  <a:pt x="38100" y="2962275"/>
                </a:lnTo>
                <a:cubicBezTo>
                  <a:pt x="17072" y="2962275"/>
                  <a:pt x="0" y="2945203"/>
                  <a:pt x="0" y="29241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00050" y="3514725"/>
            <a:ext cx="38100" cy="2962275"/>
          </a:xfrm>
          <a:custGeom>
            <a:avLst/>
            <a:gdLst/>
            <a:ahLst/>
            <a:cxnLst/>
            <a:rect l="l" t="t" r="r" b="b"/>
            <a:pathLst>
              <a:path w="38100" h="2962275">
                <a:moveTo>
                  <a:pt x="38100" y="0"/>
                </a:moveTo>
                <a:lnTo>
                  <a:pt x="38100" y="0"/>
                </a:lnTo>
                <a:lnTo>
                  <a:pt x="38100" y="2962275"/>
                </a:lnTo>
                <a:lnTo>
                  <a:pt x="38100" y="2962275"/>
                </a:lnTo>
                <a:cubicBezTo>
                  <a:pt x="17072" y="2962275"/>
                  <a:pt x="0" y="2945203"/>
                  <a:pt x="0" y="29241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A7A6A"/>
          </a:solidFill>
        </p:spPr>
      </p:sp>
      <p:sp>
        <p:nvSpPr>
          <p:cNvPr id="12" name="Shape 10"/>
          <p:cNvSpPr/>
          <p:nvPr/>
        </p:nvSpPr>
        <p:spPr>
          <a:xfrm>
            <a:off x="723900" y="3819525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5A7A6A">
              <a:alpha val="10196"/>
            </a:srgbClr>
          </a:solidFill>
        </p:spPr>
      </p:sp>
      <p:sp>
        <p:nvSpPr>
          <p:cNvPr id="13" name="Shape 11"/>
          <p:cNvSpPr/>
          <p:nvPr/>
        </p:nvSpPr>
        <p:spPr>
          <a:xfrm>
            <a:off x="870347" y="3981450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35719" y="71438"/>
                </a:moveTo>
                <a:cubicBezTo>
                  <a:pt x="35719" y="36938"/>
                  <a:pt x="63728" y="8930"/>
                  <a:pt x="98227" y="8930"/>
                </a:cubicBezTo>
                <a:cubicBezTo>
                  <a:pt x="132726" y="8930"/>
                  <a:pt x="160734" y="36938"/>
                  <a:pt x="160734" y="71437"/>
                </a:cubicBezTo>
                <a:cubicBezTo>
                  <a:pt x="160734" y="105937"/>
                  <a:pt x="132726" y="133945"/>
                  <a:pt x="98227" y="133945"/>
                </a:cubicBezTo>
                <a:cubicBezTo>
                  <a:pt x="63728" y="133945"/>
                  <a:pt x="35719" y="105937"/>
                  <a:pt x="35719" y="71438"/>
                </a:cubicBezTo>
                <a:close/>
                <a:moveTo>
                  <a:pt x="0" y="258961"/>
                </a:moveTo>
                <a:cubicBezTo>
                  <a:pt x="0" y="204713"/>
                  <a:pt x="43979" y="160734"/>
                  <a:pt x="98227" y="160734"/>
                </a:cubicBezTo>
                <a:cubicBezTo>
                  <a:pt x="152474" y="160734"/>
                  <a:pt x="196453" y="204713"/>
                  <a:pt x="196453" y="258961"/>
                </a:cubicBezTo>
                <a:lnTo>
                  <a:pt x="196453" y="262310"/>
                </a:lnTo>
                <a:cubicBezTo>
                  <a:pt x="196453" y="275258"/>
                  <a:pt x="185961" y="285750"/>
                  <a:pt x="173013" y="285750"/>
                </a:cubicBezTo>
                <a:lnTo>
                  <a:pt x="23440" y="285750"/>
                </a:lnTo>
                <a:cubicBezTo>
                  <a:pt x="10492" y="285750"/>
                  <a:pt x="0" y="275258"/>
                  <a:pt x="0" y="262310"/>
                </a:cubicBezTo>
                <a:lnTo>
                  <a:pt x="0" y="258961"/>
                </a:lnTo>
                <a:close/>
                <a:moveTo>
                  <a:pt x="241102" y="35719"/>
                </a:moveTo>
                <a:cubicBezTo>
                  <a:pt x="270672" y="35719"/>
                  <a:pt x="294680" y="59726"/>
                  <a:pt x="294680" y="89297"/>
                </a:cubicBezTo>
                <a:cubicBezTo>
                  <a:pt x="294680" y="118867"/>
                  <a:pt x="270672" y="142875"/>
                  <a:pt x="241102" y="142875"/>
                </a:cubicBezTo>
                <a:cubicBezTo>
                  <a:pt x="211531" y="142875"/>
                  <a:pt x="187523" y="118867"/>
                  <a:pt x="187523" y="89297"/>
                </a:cubicBezTo>
                <a:cubicBezTo>
                  <a:pt x="187523" y="59726"/>
                  <a:pt x="211531" y="35719"/>
                  <a:pt x="241102" y="35719"/>
                </a:cubicBezTo>
                <a:close/>
                <a:moveTo>
                  <a:pt x="241102" y="169664"/>
                </a:moveTo>
                <a:cubicBezTo>
                  <a:pt x="285471" y="169664"/>
                  <a:pt x="321469" y="205662"/>
                  <a:pt x="321469" y="250031"/>
                </a:cubicBezTo>
                <a:lnTo>
                  <a:pt x="321469" y="262533"/>
                </a:lnTo>
                <a:cubicBezTo>
                  <a:pt x="321469" y="275369"/>
                  <a:pt x="311088" y="285750"/>
                  <a:pt x="298252" y="285750"/>
                </a:cubicBezTo>
                <a:lnTo>
                  <a:pt x="217438" y="285750"/>
                </a:lnTo>
                <a:cubicBezTo>
                  <a:pt x="221121" y="278774"/>
                  <a:pt x="223242" y="270793"/>
                  <a:pt x="223242" y="262310"/>
                </a:cubicBezTo>
                <a:lnTo>
                  <a:pt x="223242" y="258961"/>
                </a:lnTo>
                <a:cubicBezTo>
                  <a:pt x="223242" y="230219"/>
                  <a:pt x="213531" y="203764"/>
                  <a:pt x="197290" y="182668"/>
                </a:cubicBezTo>
                <a:cubicBezTo>
                  <a:pt x="209903" y="174464"/>
                  <a:pt x="224972" y="169664"/>
                  <a:pt x="241102" y="169664"/>
                </a:cubicBezTo>
                <a:close/>
              </a:path>
            </a:pathLst>
          </a:custGeom>
          <a:solidFill>
            <a:srgbClr val="5A7A6A"/>
          </a:solidFill>
        </p:spPr>
      </p:sp>
      <p:sp>
        <p:nvSpPr>
          <p:cNvPr id="14" name="Text 12"/>
          <p:cNvSpPr/>
          <p:nvPr/>
        </p:nvSpPr>
        <p:spPr>
          <a:xfrm>
            <a:off x="1485900" y="3971925"/>
            <a:ext cx="12573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D3D3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老人端价值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47713" y="46958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5A7A6A"/>
          </a:solidFill>
        </p:spPr>
      </p:sp>
      <p:sp>
        <p:nvSpPr>
          <p:cNvPr id="16" name="Text 14"/>
          <p:cNvSpPr/>
          <p:nvPr/>
        </p:nvSpPr>
        <p:spPr>
          <a:xfrm>
            <a:off x="1076325" y="4657725"/>
            <a:ext cx="18002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3D3D3D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零学习成本，自然交互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47713" y="51149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5A7A6A"/>
          </a:solidFill>
        </p:spPr>
      </p:sp>
      <p:sp>
        <p:nvSpPr>
          <p:cNvPr id="18" name="Text 16"/>
          <p:cNvSpPr/>
          <p:nvPr/>
        </p:nvSpPr>
        <p:spPr>
          <a:xfrm>
            <a:off x="1076325" y="5076825"/>
            <a:ext cx="16287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3D3D3D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持续陪伴，情感支持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47713" y="55340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5A7A6A"/>
          </a:solidFill>
        </p:spPr>
      </p:sp>
      <p:sp>
        <p:nvSpPr>
          <p:cNvPr id="20" name="Text 18"/>
          <p:cNvSpPr/>
          <p:nvPr/>
        </p:nvSpPr>
        <p:spPr>
          <a:xfrm>
            <a:off x="1076325" y="5495925"/>
            <a:ext cx="16287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3D3D3D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主动提醒，生活助手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229350" y="3514725"/>
            <a:ext cx="5581650" cy="2962275"/>
          </a:xfrm>
          <a:custGeom>
            <a:avLst/>
            <a:gdLst/>
            <a:ahLst/>
            <a:cxnLst/>
            <a:rect l="l" t="t" r="r" b="b"/>
            <a:pathLst>
              <a:path w="5581650" h="2962275">
                <a:moveTo>
                  <a:pt x="38100" y="0"/>
                </a:moveTo>
                <a:lnTo>
                  <a:pt x="5429241" y="0"/>
                </a:lnTo>
                <a:cubicBezTo>
                  <a:pt x="5513414" y="0"/>
                  <a:pt x="5581650" y="68236"/>
                  <a:pt x="5581650" y="152409"/>
                </a:cubicBezTo>
                <a:lnTo>
                  <a:pt x="5581650" y="2809866"/>
                </a:lnTo>
                <a:cubicBezTo>
                  <a:pt x="5581650" y="2894039"/>
                  <a:pt x="5513414" y="2962275"/>
                  <a:pt x="5429241" y="2962275"/>
                </a:cubicBezTo>
                <a:lnTo>
                  <a:pt x="38100" y="2962275"/>
                </a:lnTo>
                <a:cubicBezTo>
                  <a:pt x="17072" y="2962275"/>
                  <a:pt x="0" y="2945203"/>
                  <a:pt x="0" y="29241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229350" y="3514725"/>
            <a:ext cx="38100" cy="2962275"/>
          </a:xfrm>
          <a:custGeom>
            <a:avLst/>
            <a:gdLst/>
            <a:ahLst/>
            <a:cxnLst/>
            <a:rect l="l" t="t" r="r" b="b"/>
            <a:pathLst>
              <a:path w="38100" h="2962275">
                <a:moveTo>
                  <a:pt x="38100" y="0"/>
                </a:moveTo>
                <a:lnTo>
                  <a:pt x="38100" y="0"/>
                </a:lnTo>
                <a:lnTo>
                  <a:pt x="38100" y="2962275"/>
                </a:lnTo>
                <a:lnTo>
                  <a:pt x="38100" y="2962275"/>
                </a:lnTo>
                <a:cubicBezTo>
                  <a:pt x="17072" y="2962275"/>
                  <a:pt x="0" y="2945203"/>
                  <a:pt x="0" y="29241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B88A75"/>
          </a:solidFill>
        </p:spPr>
      </p:sp>
      <p:sp>
        <p:nvSpPr>
          <p:cNvPr id="23" name="Shape 21"/>
          <p:cNvSpPr/>
          <p:nvPr/>
        </p:nvSpPr>
        <p:spPr>
          <a:xfrm>
            <a:off x="6553200" y="3819525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B88A75">
              <a:alpha val="10196"/>
            </a:srgbClr>
          </a:solidFill>
        </p:spPr>
      </p:sp>
      <p:sp>
        <p:nvSpPr>
          <p:cNvPr id="24" name="Shape 22"/>
          <p:cNvSpPr/>
          <p:nvPr/>
        </p:nvSpPr>
        <p:spPr>
          <a:xfrm>
            <a:off x="6753225" y="3981450"/>
            <a:ext cx="214313" cy="285750"/>
          </a:xfrm>
          <a:custGeom>
            <a:avLst/>
            <a:gdLst/>
            <a:ahLst/>
            <a:cxnLst/>
            <a:rect l="l" t="t" r="r" b="b"/>
            <a:pathLst>
              <a:path w="214313" h="285750">
                <a:moveTo>
                  <a:pt x="8930" y="35719"/>
                </a:moveTo>
                <a:cubicBezTo>
                  <a:pt x="8930" y="16018"/>
                  <a:pt x="24947" y="0"/>
                  <a:pt x="44648" y="0"/>
                </a:cubicBezTo>
                <a:lnTo>
                  <a:pt x="169664" y="0"/>
                </a:lnTo>
                <a:cubicBezTo>
                  <a:pt x="189365" y="0"/>
                  <a:pt x="205383" y="16018"/>
                  <a:pt x="205383" y="35719"/>
                </a:cubicBezTo>
                <a:lnTo>
                  <a:pt x="205383" y="250031"/>
                </a:lnTo>
                <a:cubicBezTo>
                  <a:pt x="205383" y="269732"/>
                  <a:pt x="189365" y="285750"/>
                  <a:pt x="169664" y="285750"/>
                </a:cubicBezTo>
                <a:lnTo>
                  <a:pt x="44648" y="285750"/>
                </a:lnTo>
                <a:cubicBezTo>
                  <a:pt x="24947" y="285750"/>
                  <a:pt x="8930" y="269732"/>
                  <a:pt x="8930" y="250031"/>
                </a:cubicBezTo>
                <a:lnTo>
                  <a:pt x="8930" y="35719"/>
                </a:lnTo>
                <a:close/>
                <a:moveTo>
                  <a:pt x="44648" y="35719"/>
                </a:moveTo>
                <a:lnTo>
                  <a:pt x="44648" y="205383"/>
                </a:lnTo>
                <a:lnTo>
                  <a:pt x="169664" y="205383"/>
                </a:lnTo>
                <a:lnTo>
                  <a:pt x="169664" y="35719"/>
                </a:lnTo>
                <a:lnTo>
                  <a:pt x="44648" y="35719"/>
                </a:lnTo>
                <a:close/>
                <a:moveTo>
                  <a:pt x="107156" y="263426"/>
                </a:moveTo>
                <a:cubicBezTo>
                  <a:pt x="117035" y="263426"/>
                  <a:pt x="125016" y="255445"/>
                  <a:pt x="125016" y="245566"/>
                </a:cubicBezTo>
                <a:cubicBezTo>
                  <a:pt x="125016" y="235688"/>
                  <a:pt x="117035" y="227707"/>
                  <a:pt x="107156" y="227707"/>
                </a:cubicBezTo>
                <a:cubicBezTo>
                  <a:pt x="97278" y="227707"/>
                  <a:pt x="89297" y="235688"/>
                  <a:pt x="89297" y="245566"/>
                </a:cubicBezTo>
                <a:cubicBezTo>
                  <a:pt x="89297" y="255445"/>
                  <a:pt x="97278" y="263426"/>
                  <a:pt x="107156" y="263426"/>
                </a:cubicBezTo>
                <a:close/>
              </a:path>
            </a:pathLst>
          </a:custGeom>
          <a:solidFill>
            <a:srgbClr val="B88A75"/>
          </a:solidFill>
        </p:spPr>
      </p:sp>
      <p:sp>
        <p:nvSpPr>
          <p:cNvPr id="25" name="Text 23"/>
          <p:cNvSpPr/>
          <p:nvPr/>
        </p:nvSpPr>
        <p:spPr>
          <a:xfrm>
            <a:off x="7315200" y="3971925"/>
            <a:ext cx="12573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D3D3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家属端价值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577013" y="46958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B88A75"/>
          </a:solidFill>
        </p:spPr>
      </p:sp>
      <p:sp>
        <p:nvSpPr>
          <p:cNvPr id="27" name="Text 25"/>
          <p:cNvSpPr/>
          <p:nvPr/>
        </p:nvSpPr>
        <p:spPr>
          <a:xfrm>
            <a:off x="6905625" y="4657725"/>
            <a:ext cx="16287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3D3D3D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低成本参与远程照护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577013" y="51149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B88A75"/>
          </a:solidFill>
        </p:spPr>
      </p:sp>
      <p:sp>
        <p:nvSpPr>
          <p:cNvPr id="29" name="Text 27"/>
          <p:cNvSpPr/>
          <p:nvPr/>
        </p:nvSpPr>
        <p:spPr>
          <a:xfrm>
            <a:off x="6905625" y="5076825"/>
            <a:ext cx="16287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3D3D3D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清晰可信的状态反馈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577013" y="55340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B88A75"/>
          </a:solidFill>
        </p:spPr>
      </p:sp>
      <p:sp>
        <p:nvSpPr>
          <p:cNvPr id="31" name="Text 29"/>
          <p:cNvSpPr/>
          <p:nvPr/>
        </p:nvSpPr>
        <p:spPr>
          <a:xfrm>
            <a:off x="6905625" y="5495925"/>
            <a:ext cx="12858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3D3D3D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结构化信息管理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0578" y="370578"/>
            <a:ext cx="11524960" cy="2223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b="1" kern="0" spc="117" dirty="0">
                <a:solidFill>
                  <a:srgbClr val="5A7A6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ELDERLY END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70578" y="667040"/>
            <a:ext cx="11673191" cy="44469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500" b="1" dirty="0">
                <a:solidFill>
                  <a:srgbClr val="3D3D3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老人端：Embodied Agent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70578" y="1259964"/>
            <a:ext cx="741155" cy="37058"/>
          </a:xfrm>
          <a:custGeom>
            <a:avLst/>
            <a:gdLst/>
            <a:ahLst/>
            <a:cxnLst/>
            <a:rect l="l" t="t" r="r" b="b"/>
            <a:pathLst>
              <a:path w="741155" h="37058">
                <a:moveTo>
                  <a:pt x="0" y="0"/>
                </a:moveTo>
                <a:lnTo>
                  <a:pt x="741155" y="0"/>
                </a:lnTo>
                <a:lnTo>
                  <a:pt x="741155" y="37058"/>
                </a:lnTo>
                <a:lnTo>
                  <a:pt x="0" y="37058"/>
                </a:lnTo>
                <a:lnTo>
                  <a:pt x="0" y="0"/>
                </a:lnTo>
                <a:close/>
              </a:path>
            </a:pathLst>
          </a:custGeom>
          <a:solidFill>
            <a:srgbClr val="E6C27C"/>
          </a:solidFill>
        </p:spPr>
      </p:sp>
      <p:pic>
        <p:nvPicPr>
          <p:cNvPr id="14" name="图片 13" descr="f13edaaf1119c9b467667f1f474d06c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91525" y="1359535"/>
            <a:ext cx="3061970" cy="4391660"/>
          </a:xfrm>
          <a:prstGeom prst="rect">
            <a:avLst/>
          </a:prstGeom>
        </p:spPr>
      </p:pic>
      <p:pic>
        <p:nvPicPr>
          <p:cNvPr id="16" name="图片 15" descr="10758982922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28995" y="3429000"/>
            <a:ext cx="914400" cy="914400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9147175" y="6125210"/>
            <a:ext cx="2748280" cy="321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None/>
            </a:pPr>
            <a:r>
              <a:rPr lang="en-US" sz="1500" dirty="0">
                <a:solidFill>
                  <a:srgbClr val="3D3D3D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Embodied Agent</a:t>
            </a:r>
            <a:endParaRPr lang="en-US" sz="1500" dirty="0">
              <a:solidFill>
                <a:srgbClr val="3D3D3D">
                  <a:alpha val="70000"/>
                </a:srgbClr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327015" y="2453005"/>
            <a:ext cx="274828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500" dirty="0">
                <a:solidFill>
                  <a:srgbClr val="3D3D3D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尽可能的简单，</a:t>
            </a:r>
            <a:endParaRPr lang="en-US" sz="1500" dirty="0">
              <a:solidFill>
                <a:srgbClr val="3D3D3D">
                  <a:alpha val="70000"/>
                </a:srgbClr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  <a:p>
            <a:r>
              <a:rPr lang="en-US" sz="1500" dirty="0">
                <a:solidFill>
                  <a:srgbClr val="3D3D3D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让老年人喜欢</a:t>
            </a:r>
            <a:endParaRPr lang="zh-CN" altLang="en-US" sz="2000">
              <a:latin typeface="国风楷宋体" panose="02000503000000000000" charset="-122"/>
              <a:ea typeface="国风楷宋体" panose="02000503000000000000" charset="-122"/>
            </a:endParaRPr>
          </a:p>
        </p:txBody>
      </p:sp>
      <p:pic>
        <p:nvPicPr>
          <p:cNvPr id="6" name="图片 5" descr="c74f66c0017ab899dff73e5262cbb60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675" y="2061845"/>
            <a:ext cx="4235450" cy="32689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0578" y="370578"/>
            <a:ext cx="11524960" cy="2223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b="1" kern="0" spc="117" dirty="0">
                <a:solidFill>
                  <a:srgbClr val="5A7A6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ELDERLY END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70578" y="667040"/>
            <a:ext cx="11673191" cy="44469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zh-CN" altLang="en-US" sz="3500" b="1" dirty="0">
                <a:solidFill>
                  <a:srgbClr val="3D3D3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家属</a:t>
            </a:r>
            <a:r>
              <a:rPr lang="en-US" sz="3500" b="1" dirty="0">
                <a:solidFill>
                  <a:srgbClr val="3D3D3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端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70578" y="1259964"/>
            <a:ext cx="741155" cy="37058"/>
          </a:xfrm>
          <a:custGeom>
            <a:avLst/>
            <a:gdLst/>
            <a:ahLst/>
            <a:cxnLst/>
            <a:rect l="l" t="t" r="r" b="b"/>
            <a:pathLst>
              <a:path w="741155" h="37058">
                <a:moveTo>
                  <a:pt x="0" y="0"/>
                </a:moveTo>
                <a:lnTo>
                  <a:pt x="741155" y="0"/>
                </a:lnTo>
                <a:lnTo>
                  <a:pt x="741155" y="37058"/>
                </a:lnTo>
                <a:lnTo>
                  <a:pt x="0" y="37058"/>
                </a:lnTo>
                <a:lnTo>
                  <a:pt x="0" y="0"/>
                </a:lnTo>
                <a:close/>
              </a:path>
            </a:pathLst>
          </a:custGeom>
          <a:solidFill>
            <a:srgbClr val="E6C27C"/>
          </a:solidFill>
        </p:spPr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8400" y="1565275"/>
            <a:ext cx="9451340" cy="509333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0578" y="370578"/>
            <a:ext cx="11524960" cy="2223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b="1" kern="0" spc="117" dirty="0">
                <a:solidFill>
                  <a:srgbClr val="5A7A6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ELDERLY END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70578" y="815630"/>
            <a:ext cx="11673191" cy="44469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zh-CN" altLang="en-US" sz="3500" b="1" dirty="0">
                <a:solidFill>
                  <a:srgbClr val="3D3D3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家属</a:t>
            </a:r>
            <a:r>
              <a:rPr lang="en-US" sz="3500" b="1" dirty="0">
                <a:solidFill>
                  <a:srgbClr val="3D3D3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端</a:t>
            </a:r>
            <a:r>
              <a:rPr lang="zh-CN" altLang="en-US" sz="3500" b="1" dirty="0">
                <a:solidFill>
                  <a:srgbClr val="3D3D3D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（总览）</a:t>
            </a:r>
            <a:endParaRPr lang="zh-CN" altLang="en-US" sz="1600">
              <a:latin typeface="国风楷宋体" panose="02000503000000000000" charset="-122"/>
              <a:ea typeface="国风楷宋体" panose="02000503000000000000" charset="-122"/>
            </a:endParaRPr>
          </a:p>
          <a:p>
            <a:pPr>
              <a:lnSpc>
                <a:spcPct val="80000"/>
              </a:lnSpc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70578" y="1259964"/>
            <a:ext cx="741155" cy="37058"/>
          </a:xfrm>
          <a:custGeom>
            <a:avLst/>
            <a:gdLst/>
            <a:ahLst/>
            <a:cxnLst/>
            <a:rect l="l" t="t" r="r" b="b"/>
            <a:pathLst>
              <a:path w="741155" h="37058">
                <a:moveTo>
                  <a:pt x="0" y="0"/>
                </a:moveTo>
                <a:lnTo>
                  <a:pt x="741155" y="0"/>
                </a:lnTo>
                <a:lnTo>
                  <a:pt x="741155" y="37058"/>
                </a:lnTo>
                <a:lnTo>
                  <a:pt x="0" y="37058"/>
                </a:lnTo>
                <a:lnTo>
                  <a:pt x="0" y="0"/>
                </a:lnTo>
                <a:close/>
              </a:path>
            </a:pathLst>
          </a:custGeom>
          <a:solidFill>
            <a:srgbClr val="E6C27C"/>
          </a:solidFill>
        </p:spPr>
      </p:sp>
      <p:pic>
        <p:nvPicPr>
          <p:cNvPr id="5" name="图片 4" descr="96b8e3236a76a6bc6dcc663dadecb9c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835" y="2792095"/>
            <a:ext cx="10827385" cy="273367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350010" y="1737995"/>
            <a:ext cx="9138920" cy="783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500" dirty="0">
                <a:solidFill>
                  <a:srgbClr val="3D3D3D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这是一个面向家属的老人陪护管理界面，用于集中展示老人的当日状态与需要关注的信息。页面将心情、服药情况、待办事项和风险提示整合在同一处，帮助家属快速了解老人的生活状态，及时进行关怀、提醒与沟通，从而提升日常照护的效率与安心感。</a:t>
            </a:r>
            <a:endParaRPr lang="en-US" sz="1500" dirty="0">
              <a:solidFill>
                <a:srgbClr val="3D3D3D">
                  <a:alpha val="70000"/>
                </a:srgbClr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0578" y="370578"/>
            <a:ext cx="11524960" cy="2223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b="1" kern="0" spc="117" dirty="0">
                <a:solidFill>
                  <a:srgbClr val="5A7A6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ELDERLY END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70578" y="667040"/>
            <a:ext cx="11673191" cy="44469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zh-CN" altLang="en-US" sz="3500" b="1" dirty="0">
                <a:solidFill>
                  <a:srgbClr val="3D3D3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家属</a:t>
            </a:r>
            <a:r>
              <a:rPr lang="en-US" sz="3500" b="1" dirty="0">
                <a:solidFill>
                  <a:srgbClr val="3D3D3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端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70578" y="1259964"/>
            <a:ext cx="741155" cy="37058"/>
          </a:xfrm>
          <a:custGeom>
            <a:avLst/>
            <a:gdLst/>
            <a:ahLst/>
            <a:cxnLst/>
            <a:rect l="l" t="t" r="r" b="b"/>
            <a:pathLst>
              <a:path w="741155" h="37058">
                <a:moveTo>
                  <a:pt x="0" y="0"/>
                </a:moveTo>
                <a:lnTo>
                  <a:pt x="741155" y="0"/>
                </a:lnTo>
                <a:lnTo>
                  <a:pt x="741155" y="37058"/>
                </a:lnTo>
                <a:lnTo>
                  <a:pt x="0" y="37058"/>
                </a:lnTo>
                <a:lnTo>
                  <a:pt x="0" y="0"/>
                </a:lnTo>
                <a:close/>
              </a:path>
            </a:pathLst>
          </a:custGeom>
          <a:solidFill>
            <a:srgbClr val="E6C27C"/>
          </a:solidFill>
        </p:spPr>
      </p:sp>
      <p:pic>
        <p:nvPicPr>
          <p:cNvPr id="8" name="图片 7" descr="10758982922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574405" y="3446780"/>
            <a:ext cx="914400" cy="914400"/>
          </a:xfrm>
          <a:prstGeom prst="rect">
            <a:avLst/>
          </a:prstGeom>
        </p:spPr>
      </p:pic>
      <p:pic>
        <p:nvPicPr>
          <p:cNvPr id="10" name="图片 9" descr="微信图片_20260416032411_587_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840" y="1297305"/>
            <a:ext cx="8203565" cy="5399405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9565640" y="3719830"/>
            <a:ext cx="45053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500" dirty="0">
                <a:solidFill>
                  <a:srgbClr val="3D3D3D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Personal portrait Prompt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 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0578" y="370578"/>
            <a:ext cx="11524960" cy="2223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b="1" kern="0" spc="117" dirty="0">
                <a:solidFill>
                  <a:srgbClr val="5A7A6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ELDERLY END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70578" y="667040"/>
            <a:ext cx="11673191" cy="44469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zh-CN" altLang="en-US" sz="3500" b="1" dirty="0">
                <a:solidFill>
                  <a:srgbClr val="3D3D3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家属</a:t>
            </a:r>
            <a:r>
              <a:rPr lang="en-US" sz="3500" b="1" dirty="0">
                <a:solidFill>
                  <a:srgbClr val="3D3D3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端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70578" y="1259964"/>
            <a:ext cx="741155" cy="37058"/>
          </a:xfrm>
          <a:custGeom>
            <a:avLst/>
            <a:gdLst/>
            <a:ahLst/>
            <a:cxnLst/>
            <a:rect l="l" t="t" r="r" b="b"/>
            <a:pathLst>
              <a:path w="741155" h="37058">
                <a:moveTo>
                  <a:pt x="0" y="0"/>
                </a:moveTo>
                <a:lnTo>
                  <a:pt x="741155" y="0"/>
                </a:lnTo>
                <a:lnTo>
                  <a:pt x="741155" y="37058"/>
                </a:lnTo>
                <a:lnTo>
                  <a:pt x="0" y="37058"/>
                </a:lnTo>
                <a:lnTo>
                  <a:pt x="0" y="0"/>
                </a:lnTo>
                <a:close/>
              </a:path>
            </a:pathLst>
          </a:custGeom>
          <a:solidFill>
            <a:srgbClr val="E6C27C"/>
          </a:solidFill>
        </p:spPr>
      </p:sp>
      <p:pic>
        <p:nvPicPr>
          <p:cNvPr id="7" name="图片 6" descr="10758982922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5400000">
            <a:off x="5523230" y="2971800"/>
            <a:ext cx="914400" cy="914400"/>
          </a:xfrm>
          <a:prstGeom prst="rect">
            <a:avLst/>
          </a:prstGeom>
        </p:spPr>
      </p:pic>
      <p:pic>
        <p:nvPicPr>
          <p:cNvPr id="6" name="图片 5" descr="a5085b5fdf49c2dc722bf5e29680e1a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7060" y="1547495"/>
            <a:ext cx="3258820" cy="2039620"/>
          </a:xfrm>
          <a:prstGeom prst="rect">
            <a:avLst/>
          </a:prstGeom>
        </p:spPr>
      </p:pic>
      <p:pic>
        <p:nvPicPr>
          <p:cNvPr id="8" name="图片 7" descr="95d04f1829e1193aa5d68325bc179a5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6875" y="4022725"/>
            <a:ext cx="8543925" cy="2590800"/>
          </a:xfrm>
          <a:prstGeom prst="rect">
            <a:avLst/>
          </a:prstGeom>
        </p:spPr>
      </p:pic>
      <p:pic>
        <p:nvPicPr>
          <p:cNvPr id="11" name="图片 10" descr="加号-镂空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5481955" y="1360170"/>
            <a:ext cx="914400" cy="914400"/>
          </a:xfrm>
          <a:prstGeom prst="rect">
            <a:avLst/>
          </a:prstGeom>
        </p:spPr>
      </p:pic>
      <p:pic>
        <p:nvPicPr>
          <p:cNvPr id="12" name="图片 11" descr="微信图片_20260416032411_587_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9790" y="1787525"/>
            <a:ext cx="2734310" cy="1799590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7085965" y="983615"/>
            <a:ext cx="45053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500" dirty="0">
                <a:solidFill>
                  <a:srgbClr val="3D3D3D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Personal portrait Prompt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 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0578" y="370578"/>
            <a:ext cx="11524960" cy="2223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b="1" kern="0" spc="117" dirty="0">
                <a:solidFill>
                  <a:srgbClr val="5A7A6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ELDERLY END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70578" y="667040"/>
            <a:ext cx="11673191" cy="44469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zh-CN" altLang="en-US" sz="3500" b="1" dirty="0">
                <a:solidFill>
                  <a:srgbClr val="3D3D3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家属</a:t>
            </a:r>
            <a:r>
              <a:rPr lang="en-US" sz="3500" b="1" dirty="0">
                <a:solidFill>
                  <a:srgbClr val="3D3D3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端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70578" y="1259964"/>
            <a:ext cx="741155" cy="37058"/>
          </a:xfrm>
          <a:custGeom>
            <a:avLst/>
            <a:gdLst/>
            <a:ahLst/>
            <a:cxnLst/>
            <a:rect l="l" t="t" r="r" b="b"/>
            <a:pathLst>
              <a:path w="741155" h="37058">
                <a:moveTo>
                  <a:pt x="0" y="0"/>
                </a:moveTo>
                <a:lnTo>
                  <a:pt x="741155" y="0"/>
                </a:lnTo>
                <a:lnTo>
                  <a:pt x="741155" y="37058"/>
                </a:lnTo>
                <a:lnTo>
                  <a:pt x="0" y="37058"/>
                </a:lnTo>
                <a:lnTo>
                  <a:pt x="0" y="0"/>
                </a:lnTo>
                <a:close/>
              </a:path>
            </a:pathLst>
          </a:custGeom>
          <a:solidFill>
            <a:srgbClr val="E6C27C"/>
          </a:solidFill>
        </p:spPr>
      </p:sp>
      <p:pic>
        <p:nvPicPr>
          <p:cNvPr id="11" name="图片 10" descr="加号-镂空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5481955" y="1360170"/>
            <a:ext cx="914400" cy="914400"/>
          </a:xfrm>
          <a:prstGeom prst="rect">
            <a:avLst/>
          </a:prstGeom>
        </p:spPr>
      </p:pic>
      <p:pic>
        <p:nvPicPr>
          <p:cNvPr id="5" name="图片 4" descr="7f1bdacbc2701032c3724cdcebd1ca5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05405" y="3267710"/>
            <a:ext cx="6991350" cy="280924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2605405" y="1817370"/>
            <a:ext cx="7122795" cy="1291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en-US" sz="1500" dirty="0">
                <a:solidFill>
                  <a:srgbClr val="3D3D3D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这个“待传达/已计划事项”模块，相比于频繁、临时地与长辈沟通，优势在于信息传递更加集中、清晰和有计划。家属可以提前把需要提醒、关心或安排的事项整理好，并根据紧急程度和合适时机进行设置，减少了重要信息被遗漏或表达不清的情况。对长辈来说，这种方式更加温和；对家属来说，也能降低沟通成本，让陪伴和照护从“随时追着问”变成“有节奏地关心”。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 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0578" y="370578"/>
            <a:ext cx="11524960" cy="2223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b="1" kern="0" spc="117" dirty="0">
                <a:solidFill>
                  <a:srgbClr val="5A7A6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ELDERLY END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70578" y="667040"/>
            <a:ext cx="11673191" cy="44469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zh-CN" altLang="en-US" sz="3500" b="1" dirty="0">
                <a:solidFill>
                  <a:srgbClr val="3D3D3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家属</a:t>
            </a:r>
            <a:r>
              <a:rPr lang="en-US" sz="3500" b="1" dirty="0">
                <a:solidFill>
                  <a:srgbClr val="3D3D3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端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70578" y="1259964"/>
            <a:ext cx="741155" cy="37058"/>
          </a:xfrm>
          <a:custGeom>
            <a:avLst/>
            <a:gdLst/>
            <a:ahLst/>
            <a:cxnLst/>
            <a:rect l="l" t="t" r="r" b="b"/>
            <a:pathLst>
              <a:path w="741155" h="37058">
                <a:moveTo>
                  <a:pt x="0" y="0"/>
                </a:moveTo>
                <a:lnTo>
                  <a:pt x="741155" y="0"/>
                </a:lnTo>
                <a:lnTo>
                  <a:pt x="741155" y="37058"/>
                </a:lnTo>
                <a:lnTo>
                  <a:pt x="0" y="37058"/>
                </a:lnTo>
                <a:lnTo>
                  <a:pt x="0" y="0"/>
                </a:lnTo>
                <a:close/>
              </a:path>
            </a:pathLst>
          </a:custGeom>
          <a:solidFill>
            <a:srgbClr val="E6C27C"/>
          </a:solidFill>
        </p:spPr>
      </p:sp>
      <p:pic>
        <p:nvPicPr>
          <p:cNvPr id="11" name="图片 10" descr="加号-镂空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5481955" y="1360170"/>
            <a:ext cx="914400" cy="914400"/>
          </a:xfrm>
          <a:prstGeom prst="rect">
            <a:avLst/>
          </a:prstGeom>
        </p:spPr>
      </p:pic>
      <p:pic>
        <p:nvPicPr>
          <p:cNvPr id="16" name="图片 15" descr="e1c10b60bd668f4a4e769649e4a2e263"/>
          <p:cNvPicPr>
            <a:picLocks noChangeAspect="1"/>
          </p:cNvPicPr>
          <p:nvPr/>
        </p:nvPicPr>
        <p:blipFill>
          <a:blip r:embed="rId1"/>
          <a:srcRect b="2632"/>
          <a:stretch>
            <a:fillRect/>
          </a:stretch>
        </p:blipFill>
        <p:spPr>
          <a:xfrm>
            <a:off x="615950" y="2317115"/>
            <a:ext cx="3820160" cy="2326005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4850765" y="2406015"/>
            <a:ext cx="7122795" cy="1245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en-US" sz="1500" dirty="0">
                <a:solidFill>
                  <a:srgbClr val="3D3D3D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这是一个轻度认知互动功能。系统会结合长辈的个人画像，主动发起一些温和、自然的交流，例如询问他们过去的工作经历、生活片段或熟悉的人和事。通过这种方式，可以引导老年人主动回忆，促进思维活动，帮助锻炼大脑功能。同时，在日常互动过程中，系统也能够更早发现可能存在的认知异常或记忆问题，从而为后续干预和照护提供更及时的依据。</a:t>
            </a:r>
            <a:endParaRPr lang="en-US" sz="1500" dirty="0">
              <a:solidFill>
                <a:srgbClr val="3D3D3D">
                  <a:alpha val="70000"/>
                </a:srgbClr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5A7A6A">
                  <a:alpha val="95000"/>
                </a:srgbClr>
              </a:gs>
              <a:gs pos="50000">
                <a:srgbClr val="5A7A6A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</a:gradFill>
        </p:spPr>
      </p:sp>
      <p:sp>
        <p:nvSpPr>
          <p:cNvPr id="4" name="Shape 1"/>
          <p:cNvSpPr/>
          <p:nvPr/>
        </p:nvSpPr>
        <p:spPr>
          <a:xfrm>
            <a:off x="5753100" y="660797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>
                <a:moveTo>
                  <a:pt x="322808" y="116666"/>
                </a:moveTo>
                <a:lnTo>
                  <a:pt x="342900" y="144393"/>
                </a:lnTo>
                <a:lnTo>
                  <a:pt x="362992" y="116666"/>
                </a:lnTo>
                <a:cubicBezTo>
                  <a:pt x="396478" y="70321"/>
                  <a:pt x="450324" y="42863"/>
                  <a:pt x="507519" y="42863"/>
                </a:cubicBezTo>
                <a:cubicBezTo>
                  <a:pt x="605969" y="42863"/>
                  <a:pt x="685800" y="122694"/>
                  <a:pt x="685800" y="221144"/>
                </a:cubicBezTo>
                <a:lnTo>
                  <a:pt x="685800" y="224626"/>
                </a:lnTo>
                <a:cubicBezTo>
                  <a:pt x="685800" y="374913"/>
                  <a:pt x="498411" y="549444"/>
                  <a:pt x="400630" y="624051"/>
                </a:cubicBezTo>
                <a:cubicBezTo>
                  <a:pt x="384021" y="636642"/>
                  <a:pt x="363662" y="642938"/>
                  <a:pt x="342900" y="642938"/>
                </a:cubicBezTo>
                <a:cubicBezTo>
                  <a:pt x="322138" y="642938"/>
                  <a:pt x="301645" y="636776"/>
                  <a:pt x="285170" y="624051"/>
                </a:cubicBezTo>
                <a:cubicBezTo>
                  <a:pt x="187389" y="549444"/>
                  <a:pt x="0" y="374913"/>
                  <a:pt x="0" y="224626"/>
                </a:cubicBezTo>
                <a:lnTo>
                  <a:pt x="0" y="221144"/>
                </a:lnTo>
                <a:cubicBezTo>
                  <a:pt x="0" y="122694"/>
                  <a:pt x="79831" y="42863"/>
                  <a:pt x="178281" y="42863"/>
                </a:cubicBezTo>
                <a:cubicBezTo>
                  <a:pt x="235476" y="42863"/>
                  <a:pt x="289322" y="70321"/>
                  <a:pt x="322808" y="116666"/>
                </a:cubicBezTo>
                <a:close/>
              </a:path>
            </a:pathLst>
          </a:custGeom>
          <a:solidFill>
            <a:srgbClr val="E6C27C"/>
          </a:solidFill>
        </p:spPr>
      </p:sp>
      <p:sp>
        <p:nvSpPr>
          <p:cNvPr id="5" name="Text 2"/>
          <p:cNvSpPr/>
          <p:nvPr/>
        </p:nvSpPr>
        <p:spPr>
          <a:xfrm>
            <a:off x="4381500" y="1651397"/>
            <a:ext cx="34290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5400" b="1" dirty="0">
                <a:solidFill>
                  <a:srgbClr val="F8F7F4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感谢聆听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334000" y="2641997"/>
            <a:ext cx="1524000" cy="57150"/>
          </a:xfrm>
          <a:custGeom>
            <a:avLst/>
            <a:gdLst/>
            <a:ahLst/>
            <a:cxnLst/>
            <a:rect l="l" t="t" r="r" b="b"/>
            <a:pathLst>
              <a:path w="1524000" h="57150">
                <a:moveTo>
                  <a:pt x="0" y="0"/>
                </a:moveTo>
                <a:lnTo>
                  <a:pt x="1524000" y="0"/>
                </a:lnTo>
                <a:lnTo>
                  <a:pt x="1524000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solidFill>
            <a:srgbClr val="E6C27C"/>
          </a:solidFill>
        </p:spPr>
      </p:sp>
      <p:sp>
        <p:nvSpPr>
          <p:cNvPr id="7" name="Text 4"/>
          <p:cNvSpPr/>
          <p:nvPr/>
        </p:nvSpPr>
        <p:spPr>
          <a:xfrm>
            <a:off x="4467225" y="3080147"/>
            <a:ext cx="3257550" cy="5619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700" dirty="0">
                <a:solidFill>
                  <a:srgbClr val="F8F7F4">
                    <a:alpha val="95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用科技守护银发时光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481513" y="3865959"/>
            <a:ext cx="3228975" cy="4667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250" dirty="0">
                <a:solidFill>
                  <a:srgbClr val="F8F7F4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让爱与陪伴永不缺席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598069" y="5025628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0"/>
                </a:moveTo>
                <a:cubicBezTo>
                  <a:pt x="145442" y="0"/>
                  <a:pt x="148010" y="558"/>
                  <a:pt x="150354" y="1619"/>
                </a:cubicBezTo>
                <a:lnTo>
                  <a:pt x="255501" y="46211"/>
                </a:lnTo>
                <a:cubicBezTo>
                  <a:pt x="267779" y="51402"/>
                  <a:pt x="276932" y="63512"/>
                  <a:pt x="276876" y="78135"/>
                </a:cubicBezTo>
                <a:cubicBezTo>
                  <a:pt x="276597" y="133499"/>
                  <a:pt x="253826" y="234795"/>
                  <a:pt x="157665" y="280839"/>
                </a:cubicBezTo>
                <a:cubicBezTo>
                  <a:pt x="148344" y="285304"/>
                  <a:pt x="137517" y="285304"/>
                  <a:pt x="128197" y="280839"/>
                </a:cubicBezTo>
                <a:cubicBezTo>
                  <a:pt x="31979" y="234795"/>
                  <a:pt x="9265" y="133499"/>
                  <a:pt x="8985" y="78135"/>
                </a:cubicBezTo>
                <a:cubicBezTo>
                  <a:pt x="8930" y="63512"/>
                  <a:pt x="18083" y="51402"/>
                  <a:pt x="30361" y="46211"/>
                </a:cubicBezTo>
                <a:lnTo>
                  <a:pt x="135452" y="1619"/>
                </a:lnTo>
                <a:cubicBezTo>
                  <a:pt x="137796" y="558"/>
                  <a:pt x="140308" y="0"/>
                  <a:pt x="142875" y="0"/>
                </a:cubicBezTo>
                <a:close/>
                <a:moveTo>
                  <a:pt x="142875" y="37281"/>
                </a:moveTo>
                <a:lnTo>
                  <a:pt x="142875" y="248301"/>
                </a:lnTo>
                <a:cubicBezTo>
                  <a:pt x="219894" y="211020"/>
                  <a:pt x="240599" y="128420"/>
                  <a:pt x="241102" y="78972"/>
                </a:cubicBezTo>
                <a:lnTo>
                  <a:pt x="142875" y="37337"/>
                </a:lnTo>
                <a:lnTo>
                  <a:pt x="142875" y="37337"/>
                </a:lnTo>
                <a:close/>
              </a:path>
            </a:pathLst>
          </a:custGeom>
          <a:solidFill>
            <a:srgbClr val="E6C27C"/>
          </a:solidFill>
        </p:spPr>
      </p:sp>
      <p:sp>
        <p:nvSpPr>
          <p:cNvPr id="10" name="Text 7"/>
          <p:cNvSpPr/>
          <p:nvPr/>
        </p:nvSpPr>
        <p:spPr>
          <a:xfrm>
            <a:off x="3974306" y="5016103"/>
            <a:ext cx="10287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dirty="0">
                <a:solidFill>
                  <a:srgbClr val="F8F7F4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安全守护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441156" y="5025628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34503" y="48611"/>
                </a:moveTo>
                <a:lnTo>
                  <a:pt x="142875" y="60164"/>
                </a:lnTo>
                <a:lnTo>
                  <a:pt x="151247" y="48611"/>
                </a:lnTo>
                <a:cubicBezTo>
                  <a:pt x="165199" y="29301"/>
                  <a:pt x="187635" y="17859"/>
                  <a:pt x="211466" y="17859"/>
                </a:cubicBezTo>
                <a:cubicBezTo>
                  <a:pt x="252487" y="17859"/>
                  <a:pt x="285750" y="51122"/>
                  <a:pt x="285750" y="92143"/>
                </a:cubicBezTo>
                <a:lnTo>
                  <a:pt x="285750" y="93594"/>
                </a:lnTo>
                <a:cubicBezTo>
                  <a:pt x="285750" y="156214"/>
                  <a:pt x="207671" y="228935"/>
                  <a:pt x="166929" y="260021"/>
                </a:cubicBezTo>
                <a:cubicBezTo>
                  <a:pt x="160009" y="265268"/>
                  <a:pt x="151526" y="267891"/>
                  <a:pt x="142875" y="267891"/>
                </a:cubicBezTo>
                <a:cubicBezTo>
                  <a:pt x="134224" y="267891"/>
                  <a:pt x="125685" y="265323"/>
                  <a:pt x="118821" y="260021"/>
                </a:cubicBezTo>
                <a:cubicBezTo>
                  <a:pt x="78079" y="228935"/>
                  <a:pt x="0" y="156214"/>
                  <a:pt x="0" y="93594"/>
                </a:cubicBezTo>
                <a:lnTo>
                  <a:pt x="0" y="92143"/>
                </a:lnTo>
                <a:cubicBezTo>
                  <a:pt x="0" y="51122"/>
                  <a:pt x="33263" y="17859"/>
                  <a:pt x="74284" y="17859"/>
                </a:cubicBezTo>
                <a:cubicBezTo>
                  <a:pt x="98115" y="17859"/>
                  <a:pt x="120551" y="29301"/>
                  <a:pt x="134503" y="48611"/>
                </a:cubicBezTo>
                <a:close/>
              </a:path>
            </a:pathLst>
          </a:custGeom>
          <a:solidFill>
            <a:srgbClr val="E6C27C"/>
          </a:solidFill>
        </p:spPr>
      </p:sp>
      <p:sp>
        <p:nvSpPr>
          <p:cNvPr id="12" name="Text 9"/>
          <p:cNvSpPr/>
          <p:nvPr/>
        </p:nvSpPr>
        <p:spPr>
          <a:xfrm>
            <a:off x="5817394" y="5016103"/>
            <a:ext cx="10287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dirty="0">
                <a:solidFill>
                  <a:srgbClr val="F8F7F4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温暖陪伴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248525" y="5025628"/>
            <a:ext cx="357188" cy="285750"/>
          </a:xfrm>
          <a:custGeom>
            <a:avLst/>
            <a:gdLst/>
            <a:ahLst/>
            <a:cxnLst/>
            <a:rect l="l" t="t" r="r" b="b"/>
            <a:pathLst>
              <a:path w="357188" h="285750">
                <a:moveTo>
                  <a:pt x="178594" y="8930"/>
                </a:moveTo>
                <a:cubicBezTo>
                  <a:pt x="210629" y="8930"/>
                  <a:pt x="236637" y="34938"/>
                  <a:pt x="236637" y="66973"/>
                </a:cubicBezTo>
                <a:cubicBezTo>
                  <a:pt x="236637" y="99007"/>
                  <a:pt x="210629" y="125016"/>
                  <a:pt x="178594" y="125016"/>
                </a:cubicBezTo>
                <a:cubicBezTo>
                  <a:pt x="146559" y="125016"/>
                  <a:pt x="120551" y="99007"/>
                  <a:pt x="120551" y="66973"/>
                </a:cubicBezTo>
                <a:cubicBezTo>
                  <a:pt x="120551" y="34938"/>
                  <a:pt x="146559" y="8930"/>
                  <a:pt x="178594" y="8930"/>
                </a:cubicBezTo>
                <a:close/>
                <a:moveTo>
                  <a:pt x="53578" y="49113"/>
                </a:moveTo>
                <a:cubicBezTo>
                  <a:pt x="75756" y="49113"/>
                  <a:pt x="93762" y="67119"/>
                  <a:pt x="93762" y="89297"/>
                </a:cubicBezTo>
                <a:cubicBezTo>
                  <a:pt x="93762" y="111475"/>
                  <a:pt x="75756" y="129480"/>
                  <a:pt x="53578" y="129480"/>
                </a:cubicBezTo>
                <a:cubicBezTo>
                  <a:pt x="31400" y="129480"/>
                  <a:pt x="13395" y="111475"/>
                  <a:pt x="13395" y="89297"/>
                </a:cubicBezTo>
                <a:cubicBezTo>
                  <a:pt x="13395" y="67119"/>
                  <a:pt x="31400" y="49113"/>
                  <a:pt x="53578" y="49113"/>
                </a:cubicBezTo>
                <a:close/>
                <a:moveTo>
                  <a:pt x="0" y="232172"/>
                </a:moveTo>
                <a:cubicBezTo>
                  <a:pt x="0" y="192714"/>
                  <a:pt x="31979" y="160734"/>
                  <a:pt x="71438" y="160734"/>
                </a:cubicBezTo>
                <a:cubicBezTo>
                  <a:pt x="78581" y="160734"/>
                  <a:pt x="85502" y="161795"/>
                  <a:pt x="92032" y="163748"/>
                </a:cubicBezTo>
                <a:cubicBezTo>
                  <a:pt x="73670" y="184286"/>
                  <a:pt x="62508" y="211410"/>
                  <a:pt x="62508" y="241102"/>
                </a:cubicBezTo>
                <a:lnTo>
                  <a:pt x="62508" y="250031"/>
                </a:lnTo>
                <a:cubicBezTo>
                  <a:pt x="62508" y="256394"/>
                  <a:pt x="63847" y="262421"/>
                  <a:pt x="66247" y="267891"/>
                </a:cubicBezTo>
                <a:lnTo>
                  <a:pt x="17859" y="267891"/>
                </a:lnTo>
                <a:cubicBezTo>
                  <a:pt x="7981" y="267891"/>
                  <a:pt x="0" y="259910"/>
                  <a:pt x="0" y="250031"/>
                </a:cubicBezTo>
                <a:lnTo>
                  <a:pt x="0" y="232172"/>
                </a:lnTo>
                <a:close/>
                <a:moveTo>
                  <a:pt x="290940" y="267891"/>
                </a:moveTo>
                <a:cubicBezTo>
                  <a:pt x="293340" y="262421"/>
                  <a:pt x="294680" y="256394"/>
                  <a:pt x="294680" y="250031"/>
                </a:cubicBezTo>
                <a:lnTo>
                  <a:pt x="294680" y="241102"/>
                </a:lnTo>
                <a:cubicBezTo>
                  <a:pt x="294680" y="211410"/>
                  <a:pt x="283518" y="184286"/>
                  <a:pt x="265156" y="163748"/>
                </a:cubicBezTo>
                <a:cubicBezTo>
                  <a:pt x="271686" y="161795"/>
                  <a:pt x="278606" y="160734"/>
                  <a:pt x="285750" y="160734"/>
                </a:cubicBezTo>
                <a:cubicBezTo>
                  <a:pt x="325208" y="160734"/>
                  <a:pt x="357188" y="192714"/>
                  <a:pt x="357188" y="232172"/>
                </a:cubicBezTo>
                <a:lnTo>
                  <a:pt x="357188" y="250031"/>
                </a:lnTo>
                <a:cubicBezTo>
                  <a:pt x="357188" y="259910"/>
                  <a:pt x="349207" y="267891"/>
                  <a:pt x="339328" y="267891"/>
                </a:cubicBezTo>
                <a:lnTo>
                  <a:pt x="290940" y="267891"/>
                </a:lnTo>
                <a:close/>
                <a:moveTo>
                  <a:pt x="263426" y="89297"/>
                </a:moveTo>
                <a:cubicBezTo>
                  <a:pt x="263426" y="67119"/>
                  <a:pt x="281431" y="49113"/>
                  <a:pt x="303609" y="49113"/>
                </a:cubicBezTo>
                <a:cubicBezTo>
                  <a:pt x="325787" y="49113"/>
                  <a:pt x="343793" y="67119"/>
                  <a:pt x="343793" y="89297"/>
                </a:cubicBezTo>
                <a:cubicBezTo>
                  <a:pt x="343793" y="111475"/>
                  <a:pt x="325787" y="129480"/>
                  <a:pt x="303609" y="129480"/>
                </a:cubicBezTo>
                <a:cubicBezTo>
                  <a:pt x="281431" y="129480"/>
                  <a:pt x="263426" y="111475"/>
                  <a:pt x="263426" y="89297"/>
                </a:cubicBezTo>
                <a:close/>
                <a:moveTo>
                  <a:pt x="89297" y="241102"/>
                </a:moveTo>
                <a:cubicBezTo>
                  <a:pt x="89297" y="191765"/>
                  <a:pt x="129257" y="151805"/>
                  <a:pt x="178594" y="151805"/>
                </a:cubicBezTo>
                <a:cubicBezTo>
                  <a:pt x="227930" y="151805"/>
                  <a:pt x="267891" y="191765"/>
                  <a:pt x="267891" y="241102"/>
                </a:cubicBezTo>
                <a:lnTo>
                  <a:pt x="267891" y="250031"/>
                </a:lnTo>
                <a:cubicBezTo>
                  <a:pt x="267891" y="259910"/>
                  <a:pt x="259910" y="267891"/>
                  <a:pt x="250031" y="267891"/>
                </a:cubicBezTo>
                <a:lnTo>
                  <a:pt x="107156" y="267891"/>
                </a:lnTo>
                <a:cubicBezTo>
                  <a:pt x="97278" y="267891"/>
                  <a:pt x="89297" y="259910"/>
                  <a:pt x="89297" y="250031"/>
                </a:cubicBezTo>
                <a:lnTo>
                  <a:pt x="89297" y="241102"/>
                </a:lnTo>
                <a:close/>
              </a:path>
            </a:pathLst>
          </a:custGeom>
          <a:solidFill>
            <a:srgbClr val="E6C27C"/>
          </a:solidFill>
        </p:spPr>
      </p:sp>
      <p:sp>
        <p:nvSpPr>
          <p:cNvPr id="14" name="Text 11"/>
          <p:cNvSpPr/>
          <p:nvPr/>
        </p:nvSpPr>
        <p:spPr>
          <a:xfrm>
            <a:off x="7660481" y="5016103"/>
            <a:ext cx="10287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dirty="0">
                <a:solidFill>
                  <a:srgbClr val="F8F7F4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家庭连接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5095875" y="5930503"/>
            <a:ext cx="20002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F8F7F4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欢迎各位评委老师指正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1270</Words>
  <Application>WPS 演示</Application>
  <PresentationFormat>On-screen Show (16:9)</PresentationFormat>
  <Paragraphs>149</Paragraphs>
  <Slides>12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12</vt:i4>
      </vt:variant>
    </vt:vector>
  </HeadingPairs>
  <TitlesOfParts>
    <vt:vector size="26" baseType="lpstr">
      <vt:lpstr>Arial</vt:lpstr>
      <vt:lpstr>宋体</vt:lpstr>
      <vt:lpstr>Wingdings</vt:lpstr>
      <vt:lpstr>MiSans</vt:lpstr>
      <vt:lpstr>MiSans</vt:lpstr>
      <vt:lpstr>国风楷宋体</vt:lpstr>
      <vt:lpstr>Times New Roman</vt:lpstr>
      <vt:lpstr>Calibri</vt:lpstr>
      <vt:lpstr>微软雅黑</vt:lpstr>
      <vt:lpstr>Arial Unicode MS</vt:lpstr>
      <vt:lpstr>等线</vt:lpstr>
      <vt:lpstr>黑体</vt:lpstr>
      <vt:lpstr>Custom Theme</vt:lpstr>
      <vt:lpstr>1_Custom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老年陪伴Agent</dc:title>
  <dc:creator>Kimi</dc:creator>
  <dc:subject>老年陪伴Agent</dc:subject>
  <cp:lastModifiedBy>我要早睡</cp:lastModifiedBy>
  <cp:revision>3</cp:revision>
  <dcterms:created xsi:type="dcterms:W3CDTF">2026-04-15T12:04:00Z</dcterms:created>
  <dcterms:modified xsi:type="dcterms:W3CDTF">2026-04-15T18:22:25Z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{"Label":"老年陪伴Agent","ContentProducer":"001191110108MACG2KBH8F10000","ProduceID":"19d92b86-1352-8534-8000-0000a8c8875f","ReservedCode1":"","ContentPropagator":"001191110108MACG2KBH8F20000","PropagateID":"19d92b86-1352-8534-8000-0000a8c8875f","ReservedCode2":""}</vt:lpwstr>
  </property>
  <property fmtid="{D5CDD505-2E9C-101B-9397-08002B2CF9AE}" pid="3" name="ICV">
    <vt:lpwstr>21BDBC8DC12D421EB545953032D9BB57_13</vt:lpwstr>
  </property>
  <property fmtid="{D5CDD505-2E9C-101B-9397-08002B2CF9AE}" pid="4" name="KSOProductBuildVer">
    <vt:lpwstr>2052-12.1.0.23542</vt:lpwstr>
  </property>
</Properties>
</file>