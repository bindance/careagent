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png" ContentType="image/png"/>
  <Override PartName="/ppt/media/image14.png" ContentType="image/png"/>
  <Override PartName="/ppt/media/image1.png" ContentType="image/png"/>
  <Override PartName="/ppt/media/image2.jpeg" ContentType="image/jpeg"/>
  <Override PartName="/ppt/media/image3.png" ContentType="image/png"/>
  <Override PartName="/ppt/media/image4.jpeg" ContentType="image/jpe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0353D50-B58E-4E9E-A995-0C875BDBC528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defRPr b="0" lang="en-US" sz="2400" spc="-1" strike="noStrike">
                <a:latin typeface="Times New Roman"/>
              </a:defRPr>
            </a:lvl1pPr>
          </a:lstStyle>
          <a:p>
            <a:endParaRPr b="0" lang="en-US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图片 15" descr="a5194bbd-f9ad-43c4-84c4-4f81da8e15a1"/>
          <p:cNvPicPr/>
          <p:nvPr/>
        </p:nvPicPr>
        <p:blipFill>
          <a:blip r:embed="rId1"/>
          <a:stretch/>
        </p:blipFill>
        <p:spPr>
          <a:xfrm>
            <a:off x="5334120" y="0"/>
            <a:ext cx="6857640" cy="6857640"/>
          </a:xfrm>
          <a:prstGeom prst="rect">
            <a:avLst/>
          </a:prstGeom>
          <a:ln w="0">
            <a:noFill/>
          </a:ln>
        </p:spPr>
      </p:pic>
      <p:sp>
        <p:nvSpPr>
          <p:cNvPr id="83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5a7a6a">
                  <a:alpha val="90196"/>
                </a:srgbClr>
              </a:gs>
              <a:gs pos="100000">
                <a:srgbClr val="5a7a6a">
                  <a:alpha val="70196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Shape 1"/>
          <p:cNvSpPr/>
          <p:nvPr/>
        </p:nvSpPr>
        <p:spPr>
          <a:xfrm>
            <a:off x="380880" y="802440"/>
            <a:ext cx="2923920" cy="418680"/>
          </a:xfrm>
          <a:custGeom>
            <a:avLst/>
            <a:gdLst/>
            <a:ahLst/>
            <a:rect l="l" t="t" r="r" b="b"/>
            <a:pathLst>
              <a:path w="2924175" h="419100">
                <a:moveTo>
                  <a:pt x="209550" y="0"/>
                </a:moveTo>
                <a:lnTo>
                  <a:pt x="2714625" y="0"/>
                </a:lnTo>
                <a:cubicBezTo>
                  <a:pt x="2830279" y="0"/>
                  <a:pt x="2924175" y="93896"/>
                  <a:pt x="2924175" y="209550"/>
                </a:cubicBezTo>
                <a:lnTo>
                  <a:pt x="2924175" y="209550"/>
                </a:lnTo>
                <a:cubicBezTo>
                  <a:pt x="2924175" y="325204"/>
                  <a:pt x="2830279" y="419100"/>
                  <a:pt x="2714625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Text 2"/>
          <p:cNvSpPr/>
          <p:nvPr/>
        </p:nvSpPr>
        <p:spPr>
          <a:xfrm>
            <a:off x="571680" y="897840"/>
            <a:ext cx="262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66" strike="noStrike">
                <a:solidFill>
                  <a:srgbClr val="3d3d3d"/>
                </a:solidFill>
                <a:latin typeface="MiSans"/>
                <a:ea typeface="MiSans"/>
              </a:rPr>
              <a:t>AI-POWERED ELDERLY CARE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86" name="Text 3"/>
          <p:cNvSpPr/>
          <p:nvPr/>
        </p:nvSpPr>
        <p:spPr>
          <a:xfrm>
            <a:off x="380880" y="1526400"/>
            <a:ext cx="71244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7200" spc="-1" strike="noStrike">
                <a:solidFill>
                  <a:srgbClr val="f8f7f4"/>
                </a:solidFill>
                <a:latin typeface="MiSans"/>
                <a:ea typeface="MiSans"/>
              </a:rPr>
              <a:t>老年陪伴</a:t>
            </a:r>
            <a:endParaRPr b="0" lang="en-US" sz="7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7200" spc="-1" strike="noStrike">
                <a:solidFill>
                  <a:srgbClr val="f8f7f4"/>
                </a:solidFill>
                <a:latin typeface="MiSans"/>
                <a:ea typeface="MiSans"/>
              </a:rPr>
              <a:t>Agent</a:t>
            </a:r>
            <a:endParaRPr b="0" lang="en-US" sz="7200" spc="-1" strike="noStrike">
              <a:latin typeface="Arial"/>
            </a:endParaRPr>
          </a:p>
        </p:txBody>
      </p:sp>
      <p:sp>
        <p:nvSpPr>
          <p:cNvPr id="87" name="Shape 4"/>
          <p:cNvSpPr/>
          <p:nvPr/>
        </p:nvSpPr>
        <p:spPr>
          <a:xfrm>
            <a:off x="380880" y="4041000"/>
            <a:ext cx="1218960" cy="56880"/>
          </a:xfrm>
          <a:custGeom>
            <a:avLst/>
            <a:gdLst/>
            <a:ah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5"/>
          <p:cNvSpPr/>
          <p:nvPr/>
        </p:nvSpPr>
        <p:spPr>
          <a:xfrm>
            <a:off x="380880" y="4402800"/>
            <a:ext cx="6810120" cy="93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zh-CN" sz="2250" spc="-1" strike="noStrike">
                <a:solidFill>
                  <a:srgbClr val="f8f7f4">
                    <a:alpha val="95000"/>
                  </a:srgbClr>
                </a:solidFill>
                <a:latin typeface="MiSans"/>
                <a:ea typeface="MiSans"/>
              </a:rPr>
              <a:t>用科技传递温暖</a:t>
            </a:r>
            <a:endParaRPr b="0" lang="en-US" sz="2250" spc="-1" strike="noStrike">
              <a:latin typeface="Arial"/>
            </a:endParaRPr>
          </a:p>
          <a:p>
            <a:pPr>
              <a:lnSpc>
                <a:spcPct val="140000"/>
              </a:lnSpc>
              <a:buNone/>
            </a:pPr>
            <a:r>
              <a:rPr b="0" lang="zh-CN" sz="2250" spc="-1" strike="noStrike">
                <a:solidFill>
                  <a:srgbClr val="f8f7f4">
                    <a:alpha val="95000"/>
                  </a:srgbClr>
                </a:solidFill>
                <a:latin typeface="MiSans"/>
                <a:ea typeface="MiSans"/>
              </a:rPr>
              <a:t>让陪伴触手可及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89" name="Shape 6"/>
          <p:cNvSpPr/>
          <p:nvPr/>
        </p:nvSpPr>
        <p:spPr>
          <a:xfrm>
            <a:off x="409680" y="5807880"/>
            <a:ext cx="228240" cy="228240"/>
          </a:xfrm>
          <a:custGeom>
            <a:avLst/>
            <a:gdLst/>
            <a:ahLst/>
            <a:rect l="l" t="t" r="r" b="b"/>
            <a:pathLst>
              <a:path w="228600" h="228600">
                <a:moveTo>
                  <a:pt x="107603" y="38889"/>
                </a:moveTo>
                <a:lnTo>
                  <a:pt x="114300" y="48131"/>
                </a:lnTo>
                <a:lnTo>
                  <a:pt x="120997" y="38889"/>
                </a:lnTo>
                <a:cubicBezTo>
                  <a:pt x="132159" y="23440"/>
                  <a:pt x="150108" y="14288"/>
                  <a:pt x="169173" y="14288"/>
                </a:cubicBezTo>
                <a:cubicBezTo>
                  <a:pt x="201990" y="14288"/>
                  <a:pt x="228600" y="40898"/>
                  <a:pt x="228600" y="73715"/>
                </a:cubicBezTo>
                <a:lnTo>
                  <a:pt x="228600" y="74875"/>
                </a:lnTo>
                <a:cubicBezTo>
                  <a:pt x="228600" y="124971"/>
                  <a:pt x="166137" y="183148"/>
                  <a:pt x="133543" y="208017"/>
                </a:cubicBezTo>
                <a:cubicBezTo>
                  <a:pt x="128007" y="212214"/>
                  <a:pt x="121221" y="214313"/>
                  <a:pt x="114300" y="214313"/>
                </a:cubicBezTo>
                <a:cubicBezTo>
                  <a:pt x="107379" y="214313"/>
                  <a:pt x="100548" y="212259"/>
                  <a:pt x="95057" y="208017"/>
                </a:cubicBezTo>
                <a:cubicBezTo>
                  <a:pt x="62463" y="183148"/>
                  <a:pt x="0" y="124971"/>
                  <a:pt x="0" y="74875"/>
                </a:cubicBezTo>
                <a:lnTo>
                  <a:pt x="0" y="73715"/>
                </a:lnTo>
                <a:cubicBezTo>
                  <a:pt x="0" y="40898"/>
                  <a:pt x="26610" y="14288"/>
                  <a:pt x="59427" y="14288"/>
                </a:cubicBezTo>
                <a:cubicBezTo>
                  <a:pt x="78492" y="14288"/>
                  <a:pt x="96441" y="23440"/>
                  <a:pt x="107603" y="38889"/>
                </a:cubicBez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7"/>
          <p:cNvSpPr/>
          <p:nvPr/>
        </p:nvSpPr>
        <p:spPr>
          <a:xfrm>
            <a:off x="771480" y="5233680"/>
            <a:ext cx="8961480" cy="14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buNone/>
            </a:pPr>
            <a:r>
              <a:rPr b="0" lang="zh-CN" sz="1500" spc="-1" strike="noStrike">
                <a:solidFill>
                  <a:srgbClr val="f8f7f4">
                    <a:alpha val="90000"/>
                  </a:srgbClr>
                </a:solidFill>
                <a:latin typeface="黑体"/>
                <a:ea typeface="黑体"/>
              </a:rPr>
              <a:t>汇报人：邱彬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</a:pPr>
            <a:r>
              <a:rPr b="0" lang="zh-CN" sz="1500" spc="-1" strike="noStrike">
                <a:solidFill>
                  <a:srgbClr val="f8f7f4">
                    <a:alpha val="90000"/>
                  </a:srgbClr>
                </a:solidFill>
                <a:latin typeface="黑体"/>
                <a:ea typeface="黑体"/>
              </a:rPr>
              <a:t>第二组：邱彬 李宇轩 李佳哲 沈培林 潘瑞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380880" y="380880"/>
            <a:ext cx="1151532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350" spc="134" strike="noStrike">
                <a:solidFill>
                  <a:srgbClr val="5a7a6a"/>
                </a:solidFill>
                <a:latin typeface="MiSans"/>
                <a:ea typeface="MiSans"/>
              </a:rPr>
              <a:t>CONTENTS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380880" y="762120"/>
            <a:ext cx="11715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zh-CN" sz="4500" spc="-1" strike="noStrike">
                <a:solidFill>
                  <a:srgbClr val="3d3d3d"/>
                </a:solidFill>
                <a:latin typeface="MiSans"/>
                <a:ea typeface="MiSans"/>
              </a:rPr>
              <a:t>目录</a:t>
            </a:r>
            <a:endParaRPr b="0" lang="en-US" sz="4500" spc="-1" strike="noStrike">
              <a:latin typeface="Arial"/>
            </a:endParaRPr>
          </a:p>
        </p:txBody>
      </p:sp>
      <p:sp>
        <p:nvSpPr>
          <p:cNvPr id="93" name="Shape 2"/>
          <p:cNvSpPr/>
          <p:nvPr/>
        </p:nvSpPr>
        <p:spPr>
          <a:xfrm>
            <a:off x="380880" y="1523880"/>
            <a:ext cx="914040" cy="56880"/>
          </a:xfrm>
          <a:custGeom>
            <a:avLst/>
            <a:gdLst/>
            <a:ahLst/>
            <a:rect l="l" t="t" r="r" b="b"/>
            <a:pathLst>
              <a:path w="914400" h="5715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Shape 3"/>
          <p:cNvSpPr/>
          <p:nvPr/>
        </p:nvSpPr>
        <p:spPr>
          <a:xfrm>
            <a:off x="380880" y="1962000"/>
            <a:ext cx="761760" cy="761760"/>
          </a:xfrm>
          <a:custGeom>
            <a:avLst/>
            <a:gdLst/>
            <a:ah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a7a6a"/>
          </a:solidFill>
          <a:ln w="0">
            <a:noFill/>
          </a:ln>
          <a:effectLst>
            <a:outerShdw dist="95400" dir="5400000" blurRad="14292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5" name="Text 4"/>
          <p:cNvSpPr/>
          <p:nvPr/>
        </p:nvSpPr>
        <p:spPr>
          <a:xfrm>
            <a:off x="586800" y="2152800"/>
            <a:ext cx="5234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8f7f4"/>
                </a:solidFill>
                <a:latin typeface="MiSans"/>
                <a:ea typeface="MiSans"/>
              </a:rPr>
              <a:t>01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1371600" y="2038320"/>
            <a:ext cx="4638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2250" spc="-1" strike="noStrike">
                <a:solidFill>
                  <a:srgbClr val="3d3d3d"/>
                </a:solidFill>
                <a:latin typeface="MiSans"/>
                <a:ea typeface="MiSans"/>
              </a:rPr>
              <a:t>背景与问题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1371600" y="2495520"/>
            <a:ext cx="45907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zh-CN" sz="15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老龄化社会的照护困境与现有产品痛点分析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6324480" y="1962000"/>
            <a:ext cx="761760" cy="761760"/>
          </a:xfrm>
          <a:custGeom>
            <a:avLst/>
            <a:gdLst/>
            <a:ah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88a75"/>
          </a:solidFill>
          <a:ln w="0">
            <a:noFill/>
          </a:ln>
          <a:effectLst>
            <a:outerShdw dist="95400" dir="5400000" blurRad="14292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9" name="Text 8"/>
          <p:cNvSpPr/>
          <p:nvPr/>
        </p:nvSpPr>
        <p:spPr>
          <a:xfrm>
            <a:off x="6501600" y="2152800"/>
            <a:ext cx="58068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8f7f4"/>
                </a:solidFill>
                <a:latin typeface="MiSans"/>
                <a:ea typeface="MiSans"/>
              </a:rPr>
              <a:t>02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7315200" y="2038320"/>
            <a:ext cx="4638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2250" spc="-1" strike="noStrike">
                <a:solidFill>
                  <a:srgbClr val="3d3d3d"/>
                </a:solidFill>
                <a:latin typeface="MiSans"/>
                <a:ea typeface="MiSans"/>
              </a:rPr>
              <a:t>产品解决方案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7315200" y="2495520"/>
            <a:ext cx="45907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zh-CN" sz="15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构建自然、主动的陪伴体系与双重价值主张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2" name="Shape 11"/>
          <p:cNvSpPr/>
          <p:nvPr/>
        </p:nvSpPr>
        <p:spPr>
          <a:xfrm>
            <a:off x="380880" y="3568680"/>
            <a:ext cx="761760" cy="761760"/>
          </a:xfrm>
          <a:custGeom>
            <a:avLst/>
            <a:gdLst/>
            <a:ah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e6c27c"/>
          </a:solidFill>
          <a:ln w="0">
            <a:noFill/>
          </a:ln>
          <a:effectLst>
            <a:outerShdw dist="95400" dir="5400000" blurRad="14292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3" name="Text 12"/>
          <p:cNvSpPr/>
          <p:nvPr/>
        </p:nvSpPr>
        <p:spPr>
          <a:xfrm>
            <a:off x="553680" y="3759120"/>
            <a:ext cx="5900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3d3d3d"/>
                </a:solidFill>
                <a:latin typeface="MiSans"/>
                <a:ea typeface="MiSans"/>
              </a:rPr>
              <a:t>03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1371600" y="3644640"/>
            <a:ext cx="4638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2250" spc="-1" strike="noStrike">
                <a:solidFill>
                  <a:srgbClr val="3d3d3d"/>
                </a:solidFill>
                <a:latin typeface="MiSans"/>
                <a:ea typeface="MiSans"/>
              </a:rPr>
              <a:t>老人端设计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105" name="Text 14"/>
          <p:cNvSpPr/>
          <p:nvPr/>
        </p:nvSpPr>
        <p:spPr>
          <a:xfrm>
            <a:off x="1371600" y="4101840"/>
            <a:ext cx="45907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en-US" sz="15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Embodied Agent </a:t>
            </a:r>
            <a:r>
              <a:rPr b="0" lang="zh-CN" sz="15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零学习成本的自然交互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06" name="Shape 15"/>
          <p:cNvSpPr/>
          <p:nvPr/>
        </p:nvSpPr>
        <p:spPr>
          <a:xfrm>
            <a:off x="6324480" y="3568680"/>
            <a:ext cx="761760" cy="761760"/>
          </a:xfrm>
          <a:custGeom>
            <a:avLst/>
            <a:gdLst/>
            <a:ah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5a7a6a"/>
          </a:solidFill>
          <a:ln w="0">
            <a:noFill/>
          </a:ln>
          <a:effectLst>
            <a:outerShdw dist="95400" dir="5400000" blurRad="14292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7" name="Text 16"/>
          <p:cNvSpPr/>
          <p:nvPr/>
        </p:nvSpPr>
        <p:spPr>
          <a:xfrm>
            <a:off x="6497640" y="3759120"/>
            <a:ext cx="5900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8f7f4"/>
                </a:solidFill>
                <a:latin typeface="MiSans"/>
                <a:ea typeface="MiSans"/>
              </a:rPr>
              <a:t>04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08" name="Text 17"/>
          <p:cNvSpPr/>
          <p:nvPr/>
        </p:nvSpPr>
        <p:spPr>
          <a:xfrm>
            <a:off x="7315200" y="3644640"/>
            <a:ext cx="46382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2250" spc="-1" strike="noStrike">
                <a:solidFill>
                  <a:srgbClr val="3d3d3d"/>
                </a:solidFill>
                <a:latin typeface="MiSans"/>
                <a:ea typeface="MiSans"/>
              </a:rPr>
              <a:t>家属端功能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109" name="Text 18"/>
          <p:cNvSpPr/>
          <p:nvPr/>
        </p:nvSpPr>
        <p:spPr>
          <a:xfrm>
            <a:off x="7315200" y="4101840"/>
            <a:ext cx="45907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zh-CN" sz="15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一站式陪护管理中心与四大核心模块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10" name="Shape 19"/>
          <p:cNvSpPr/>
          <p:nvPr/>
        </p:nvSpPr>
        <p:spPr>
          <a:xfrm>
            <a:off x="380880" y="5175360"/>
            <a:ext cx="761760" cy="761760"/>
          </a:xfrm>
          <a:custGeom>
            <a:avLst/>
            <a:gdLst/>
            <a:ah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b88a75"/>
          </a:solidFill>
          <a:ln w="0">
            <a:noFill/>
          </a:ln>
          <a:effectLst>
            <a:outerShdw dist="95400" dir="5400000" blurRad="14292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1" name="Text 20"/>
          <p:cNvSpPr/>
          <p:nvPr/>
        </p:nvSpPr>
        <p:spPr>
          <a:xfrm>
            <a:off x="551880" y="5365800"/>
            <a:ext cx="59004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2700" spc="-1" strike="noStrike">
                <a:solidFill>
                  <a:srgbClr val="f8f7f4"/>
                </a:solidFill>
                <a:latin typeface="MiSans"/>
                <a:ea typeface="MiSans"/>
              </a:rPr>
              <a:t>05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12" name="Text 21"/>
          <p:cNvSpPr/>
          <p:nvPr/>
        </p:nvSpPr>
        <p:spPr>
          <a:xfrm>
            <a:off x="1371600" y="5251320"/>
            <a:ext cx="1058184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2250" spc="-1" strike="noStrike">
                <a:solidFill>
                  <a:srgbClr val="3d3d3d"/>
                </a:solidFill>
                <a:latin typeface="MiSans"/>
                <a:ea typeface="MiSans"/>
              </a:rPr>
              <a:t>总结展望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113" name="Text 22"/>
          <p:cNvSpPr/>
          <p:nvPr/>
        </p:nvSpPr>
        <p:spPr>
          <a:xfrm>
            <a:off x="1371600" y="5708520"/>
            <a:ext cx="10534320" cy="3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zh-CN" sz="15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用科技守护银发时光，让爱与陪伴永不缺席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/>
          <p:nvPr/>
        </p:nvSpPr>
        <p:spPr>
          <a:xfrm>
            <a:off x="317520" y="317520"/>
            <a:ext cx="116200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000" spc="97" strike="noStrike">
                <a:solidFill>
                  <a:srgbClr val="5a7a6a"/>
                </a:solidFill>
                <a:latin typeface="MiSans"/>
                <a:ea typeface="MiSans"/>
              </a:rPr>
              <a:t>BACKGROUND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15" name="Text 1"/>
          <p:cNvSpPr/>
          <p:nvPr/>
        </p:nvSpPr>
        <p:spPr>
          <a:xfrm>
            <a:off x="304920" y="596880"/>
            <a:ext cx="117471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zh-CN" sz="3000" spc="-1" strike="noStrike">
                <a:solidFill>
                  <a:srgbClr val="3d3d3d"/>
                </a:solidFill>
                <a:latin typeface="MiSans"/>
                <a:ea typeface="MiSans"/>
              </a:rPr>
              <a:t>背景：老龄化社会的照护困境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317520" y="1079640"/>
            <a:ext cx="634680" cy="31320"/>
          </a:xfrm>
          <a:custGeom>
            <a:avLst/>
            <a:gdLst/>
            <a:ah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Shape 3"/>
          <p:cNvSpPr/>
          <p:nvPr/>
        </p:nvSpPr>
        <p:spPr>
          <a:xfrm>
            <a:off x="3028320" y="2004480"/>
            <a:ext cx="380520" cy="38052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a7a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Shape 4"/>
          <p:cNvSpPr/>
          <p:nvPr/>
        </p:nvSpPr>
        <p:spPr>
          <a:xfrm>
            <a:off x="3119760" y="2115720"/>
            <a:ext cx="198000" cy="158400"/>
          </a:xfrm>
          <a:custGeom>
            <a:avLst/>
            <a:gdLst/>
            <a:ah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f8f7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5"/>
          <p:cNvSpPr/>
          <p:nvPr/>
        </p:nvSpPr>
        <p:spPr>
          <a:xfrm>
            <a:off x="3504600" y="2067840"/>
            <a:ext cx="8568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zh-CN" sz="1500" spc="-1" strike="noStrike">
                <a:solidFill>
                  <a:srgbClr val="3d3d3d"/>
                </a:solidFill>
                <a:latin typeface="MiSans"/>
                <a:ea typeface="MiSans"/>
              </a:rPr>
              <a:t>社会现状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3028320" y="2512440"/>
            <a:ext cx="572256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76280" rIns="0" tIns="0" bIns="0" anchor="ctr">
            <a:noAutofit/>
          </a:bodyPr>
          <a:p>
            <a:pPr>
              <a:lnSpc>
                <a:spcPct val="170000"/>
              </a:lnSpc>
              <a:buNone/>
            </a:pPr>
            <a:r>
              <a:rPr b="0" lang="zh-CN" sz="1130" spc="-1" strike="noStrike">
                <a:solidFill>
                  <a:srgbClr val="3d3d3d">
                    <a:alpha val="80000"/>
                  </a:srgbClr>
                </a:solidFill>
                <a:latin typeface="MiSans"/>
                <a:ea typeface="MiSans"/>
              </a:rPr>
              <a:t>随着人口老龄化持续加深，越来越多老人在日常生活中面临诸多不便——</a:t>
            </a:r>
            <a:r>
              <a:rPr b="0" lang="zh-CN" sz="1130" spc="-1" strike="noStrike">
                <a:solidFill>
                  <a:srgbClr val="5a7a6a"/>
                </a:solidFill>
                <a:latin typeface="MiSans"/>
                <a:ea typeface="MiSans"/>
              </a:rPr>
              <a:t>何时用药、需要陪伴、提醒和关怀</a:t>
            </a:r>
            <a:r>
              <a:rPr b="0" lang="zh-CN" sz="1130" spc="-1" strike="noStrike">
                <a:solidFill>
                  <a:srgbClr val="3d3d3d">
                    <a:alpha val="80000"/>
                  </a:srgbClr>
                </a:solidFill>
                <a:latin typeface="MiSans"/>
                <a:ea typeface="MiSans"/>
              </a:rPr>
              <a:t>。然而，在城市生活节奏加快的背景下，许多人却难以长期、持续地陪伴和照顾身边的老人。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121" name="Shape 7"/>
          <p:cNvSpPr/>
          <p:nvPr/>
        </p:nvSpPr>
        <p:spPr>
          <a:xfrm>
            <a:off x="3028320" y="3623760"/>
            <a:ext cx="380520" cy="380520"/>
          </a:xfrm>
          <a:custGeom>
            <a:avLst/>
            <a:gdLst/>
            <a:ah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b88a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Shape 8"/>
          <p:cNvSpPr/>
          <p:nvPr/>
        </p:nvSpPr>
        <p:spPr>
          <a:xfrm>
            <a:off x="3139560" y="3735000"/>
            <a:ext cx="158400" cy="158400"/>
          </a:xfrm>
          <a:custGeom>
            <a:avLst/>
            <a:gdLst/>
            <a:ahLst/>
            <a:rect l="l" t="t" r="r" b="b"/>
            <a:pathLst>
              <a:path w="158750" h="158750">
                <a:moveTo>
                  <a:pt x="79375" y="0"/>
                </a:moveTo>
                <a:cubicBezTo>
                  <a:pt x="83933" y="0"/>
                  <a:pt x="88119" y="2511"/>
                  <a:pt x="90289" y="6511"/>
                </a:cubicBezTo>
                <a:lnTo>
                  <a:pt x="157262" y="130535"/>
                </a:lnTo>
                <a:cubicBezTo>
                  <a:pt x="159339" y="134379"/>
                  <a:pt x="159246" y="139030"/>
                  <a:pt x="157014" y="142782"/>
                </a:cubicBezTo>
                <a:cubicBezTo>
                  <a:pt x="154781" y="146534"/>
                  <a:pt x="150719" y="148828"/>
                  <a:pt x="146348" y="148828"/>
                </a:cubicBezTo>
                <a:lnTo>
                  <a:pt x="12402" y="148828"/>
                </a:lnTo>
                <a:cubicBezTo>
                  <a:pt x="8031" y="148828"/>
                  <a:pt x="4000" y="146534"/>
                  <a:pt x="1736" y="142782"/>
                </a:cubicBezTo>
                <a:cubicBezTo>
                  <a:pt x="-527" y="139030"/>
                  <a:pt x="-589" y="134379"/>
                  <a:pt x="1488" y="130535"/>
                </a:cubicBezTo>
                <a:lnTo>
                  <a:pt x="68461" y="6511"/>
                </a:lnTo>
                <a:cubicBezTo>
                  <a:pt x="70631" y="2511"/>
                  <a:pt x="74817" y="0"/>
                  <a:pt x="79375" y="0"/>
                </a:cubicBezTo>
                <a:close/>
                <a:moveTo>
                  <a:pt x="79375" y="52090"/>
                </a:moveTo>
                <a:cubicBezTo>
                  <a:pt x="75251" y="52090"/>
                  <a:pt x="71934" y="55407"/>
                  <a:pt x="71934" y="59531"/>
                </a:cubicBezTo>
                <a:lnTo>
                  <a:pt x="71934" y="94258"/>
                </a:lnTo>
                <a:cubicBezTo>
                  <a:pt x="71934" y="98382"/>
                  <a:pt x="75251" y="101699"/>
                  <a:pt x="79375" y="101699"/>
                </a:cubicBezTo>
                <a:cubicBezTo>
                  <a:pt x="83499" y="101699"/>
                  <a:pt x="86816" y="98382"/>
                  <a:pt x="86816" y="94258"/>
                </a:cubicBezTo>
                <a:lnTo>
                  <a:pt x="86816" y="59531"/>
                </a:lnTo>
                <a:cubicBezTo>
                  <a:pt x="86816" y="55407"/>
                  <a:pt x="83499" y="52090"/>
                  <a:pt x="79375" y="52090"/>
                </a:cubicBezTo>
                <a:close/>
                <a:moveTo>
                  <a:pt x="87654" y="119062"/>
                </a:moveTo>
                <a:cubicBezTo>
                  <a:pt x="87842" y="115990"/>
                  <a:pt x="86309" y="113066"/>
                  <a:pt x="83675" y="111473"/>
                </a:cubicBezTo>
                <a:cubicBezTo>
                  <a:pt x="81041" y="109879"/>
                  <a:pt x="77740" y="109879"/>
                  <a:pt x="75106" y="111473"/>
                </a:cubicBezTo>
                <a:cubicBezTo>
                  <a:pt x="72472" y="113066"/>
                  <a:pt x="70939" y="115990"/>
                  <a:pt x="71127" y="119062"/>
                </a:cubicBezTo>
                <a:cubicBezTo>
                  <a:pt x="70939" y="122135"/>
                  <a:pt x="72472" y="125059"/>
                  <a:pt x="75106" y="126652"/>
                </a:cubicBezTo>
                <a:cubicBezTo>
                  <a:pt x="77740" y="128246"/>
                  <a:pt x="81041" y="128246"/>
                  <a:pt x="83675" y="126652"/>
                </a:cubicBezTo>
                <a:cubicBezTo>
                  <a:pt x="86309" y="125059"/>
                  <a:pt x="87842" y="122135"/>
                  <a:pt x="87654" y="119062"/>
                </a:cubicBezTo>
                <a:close/>
              </a:path>
            </a:pathLst>
          </a:custGeom>
          <a:solidFill>
            <a:srgbClr val="f8f7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9"/>
          <p:cNvSpPr/>
          <p:nvPr/>
        </p:nvSpPr>
        <p:spPr>
          <a:xfrm>
            <a:off x="3504600" y="3687120"/>
            <a:ext cx="123804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zh-CN" sz="1500" spc="-1" strike="noStrike">
                <a:solidFill>
                  <a:srgbClr val="3d3d3d"/>
                </a:solidFill>
                <a:latin typeface="MiSans"/>
                <a:ea typeface="MiSans"/>
              </a:rPr>
              <a:t>现有产品痛点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24" name="Shape 10"/>
          <p:cNvSpPr/>
          <p:nvPr/>
        </p:nvSpPr>
        <p:spPr>
          <a:xfrm>
            <a:off x="3504600" y="4131720"/>
            <a:ext cx="253800" cy="253800"/>
          </a:xfrm>
          <a:custGeom>
            <a:avLst/>
            <a:gdLst/>
            <a:ah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11"/>
          <p:cNvSpPr/>
          <p:nvPr/>
        </p:nvSpPr>
        <p:spPr>
          <a:xfrm>
            <a:off x="3472920" y="4131720"/>
            <a:ext cx="3171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3d3d3d"/>
                </a:solidFill>
                <a:latin typeface="MiSans"/>
                <a:ea typeface="MiSans"/>
              </a:rPr>
              <a:t>1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6" name="Text 12"/>
          <p:cNvSpPr/>
          <p:nvPr/>
        </p:nvSpPr>
        <p:spPr>
          <a:xfrm>
            <a:off x="3853800" y="4131720"/>
            <a:ext cx="434952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zh-CN" sz="1130" spc="-1" strike="noStrike">
                <a:solidFill>
                  <a:srgbClr val="3d3d3d"/>
                </a:solidFill>
                <a:latin typeface="MiSans"/>
                <a:ea typeface="MiSans"/>
              </a:rPr>
              <a:t>硬件告警类产品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127" name="Text 13"/>
          <p:cNvSpPr/>
          <p:nvPr/>
        </p:nvSpPr>
        <p:spPr>
          <a:xfrm>
            <a:off x="3853800" y="4385880"/>
            <a:ext cx="43416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zh-CN" sz="10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跌倒报警、紧急呼叫等，只能在</a:t>
            </a:r>
            <a:r>
              <a:rPr b="0" lang="en-US" sz="10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"</a:t>
            </a:r>
            <a:r>
              <a:rPr b="0" lang="zh-CN" sz="10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出事之后</a:t>
            </a:r>
            <a:r>
              <a:rPr b="0" lang="en-US" sz="10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"</a:t>
            </a:r>
            <a:r>
              <a:rPr b="0" lang="zh-CN" sz="10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被动响应，缺少持续性的日常陪伴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28" name="Shape 14"/>
          <p:cNvSpPr/>
          <p:nvPr/>
        </p:nvSpPr>
        <p:spPr>
          <a:xfrm>
            <a:off x="3504600" y="4703040"/>
            <a:ext cx="253800" cy="253800"/>
          </a:xfrm>
          <a:custGeom>
            <a:avLst/>
            <a:gdLst/>
            <a:ah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15"/>
          <p:cNvSpPr/>
          <p:nvPr/>
        </p:nvSpPr>
        <p:spPr>
          <a:xfrm>
            <a:off x="3472920" y="4703040"/>
            <a:ext cx="3171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buNone/>
            </a:pPr>
            <a:r>
              <a:rPr b="1" lang="en-US" sz="1000" spc="-1" strike="noStrike">
                <a:solidFill>
                  <a:srgbClr val="3d3d3d"/>
                </a:solidFill>
                <a:latin typeface="MiSans"/>
                <a:ea typeface="MiSans"/>
              </a:rPr>
              <a:t>2</a:t>
            </a:r>
            <a:endParaRPr b="0" lang="en-US" sz="1000" spc="-1" strike="noStrike">
              <a:latin typeface="Arial"/>
            </a:endParaRPr>
          </a:p>
        </p:txBody>
      </p:sp>
      <p:sp>
        <p:nvSpPr>
          <p:cNvPr id="130" name="Text 16"/>
          <p:cNvSpPr/>
          <p:nvPr/>
        </p:nvSpPr>
        <p:spPr>
          <a:xfrm>
            <a:off x="3853800" y="4703040"/>
            <a:ext cx="400824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zh-CN" sz="1130" spc="-1" strike="noStrike">
                <a:solidFill>
                  <a:srgbClr val="3d3d3d"/>
                </a:solidFill>
                <a:latin typeface="MiSans"/>
                <a:ea typeface="MiSans"/>
              </a:rPr>
              <a:t>功能复杂类产品</a:t>
            </a:r>
            <a:endParaRPr b="0" lang="en-US" sz="1130" spc="-1" strike="noStrike">
              <a:latin typeface="Arial"/>
            </a:endParaRPr>
          </a:p>
        </p:txBody>
      </p:sp>
      <p:sp>
        <p:nvSpPr>
          <p:cNvPr id="131" name="Text 17"/>
          <p:cNvSpPr/>
          <p:nvPr/>
        </p:nvSpPr>
        <p:spPr>
          <a:xfrm>
            <a:off x="3853800" y="4957200"/>
            <a:ext cx="40003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zh-CN" sz="10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操作复杂，老人学习成本高，家属难以获得结构化、可追踪的状态反馈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380880" y="380880"/>
            <a:ext cx="11505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200" spc="117" strike="noStrike">
                <a:solidFill>
                  <a:srgbClr val="5a7a6a"/>
                </a:solidFill>
                <a:latin typeface="MiSans"/>
                <a:ea typeface="MiSans"/>
              </a:rPr>
              <a:t>CORE PROBLEM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380880" y="685800"/>
            <a:ext cx="11658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zh-CN" sz="3600" spc="-1" strike="noStrike">
                <a:solidFill>
                  <a:srgbClr val="3d3d3d"/>
                </a:solidFill>
                <a:latin typeface="MiSans"/>
                <a:ea typeface="MiSans"/>
              </a:rPr>
              <a:t>核心问题：如何构建自然、主动的陪伴体系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34" name="Shape 2"/>
          <p:cNvSpPr/>
          <p:nvPr/>
        </p:nvSpPr>
        <p:spPr>
          <a:xfrm>
            <a:off x="380880" y="1295280"/>
            <a:ext cx="761760" cy="37800"/>
          </a:xfrm>
          <a:custGeom>
            <a:avLst/>
            <a:gdLst/>
            <a:ah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3"/>
          <p:cNvSpPr/>
          <p:nvPr/>
        </p:nvSpPr>
        <p:spPr>
          <a:xfrm>
            <a:off x="380880" y="1562040"/>
            <a:ext cx="11429640" cy="1723680"/>
          </a:xfrm>
          <a:custGeom>
            <a:avLst/>
            <a:gdLst/>
            <a:ahLst/>
            <a:rect l="l" t="t" r="r" b="b"/>
            <a:pathLst>
              <a:path w="11430000" h="1724025">
                <a:moveTo>
                  <a:pt x="152404" y="0"/>
                </a:moveTo>
                <a:lnTo>
                  <a:pt x="11277596" y="0"/>
                </a:lnTo>
                <a:cubicBezTo>
                  <a:pt x="11361766" y="0"/>
                  <a:pt x="11430000" y="68234"/>
                  <a:pt x="11430000" y="152404"/>
                </a:cubicBezTo>
                <a:lnTo>
                  <a:pt x="11430000" y="1571621"/>
                </a:lnTo>
                <a:cubicBezTo>
                  <a:pt x="11430000" y="1655791"/>
                  <a:pt x="11361766" y="1724025"/>
                  <a:pt x="11277596" y="1724025"/>
                </a:cubicBezTo>
                <a:lnTo>
                  <a:pt x="152404" y="1724025"/>
                </a:lnTo>
                <a:cubicBezTo>
                  <a:pt x="68234" y="1724025"/>
                  <a:pt x="0" y="1655791"/>
                  <a:pt x="0" y="1571621"/>
                </a:cubicBezTo>
                <a:lnTo>
                  <a:pt x="0" y="152404"/>
                </a:lnTo>
                <a:cubicBezTo>
                  <a:pt x="0" y="68234"/>
                  <a:pt x="68234" y="0"/>
                  <a:pt x="152404" y="0"/>
                </a:cubicBezTo>
                <a:close/>
              </a:path>
            </a:pathLst>
          </a:custGeom>
          <a:solidFill>
            <a:srgbClr val="5a7a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Shape 4"/>
          <p:cNvSpPr/>
          <p:nvPr/>
        </p:nvSpPr>
        <p:spPr>
          <a:xfrm>
            <a:off x="685800" y="1866960"/>
            <a:ext cx="761760" cy="761760"/>
          </a:xfrm>
          <a:custGeom>
            <a:avLst/>
            <a:gdLst/>
            <a:ah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Shape 5"/>
          <p:cNvSpPr/>
          <p:nvPr/>
        </p:nvSpPr>
        <p:spPr>
          <a:xfrm>
            <a:off x="959760" y="2076480"/>
            <a:ext cx="213840" cy="342720"/>
          </a:xfrm>
          <a:custGeom>
            <a:avLst/>
            <a:gdLst/>
            <a:ahLst/>
            <a:rect l="l" t="t" r="r" b="b"/>
            <a:pathLst>
              <a:path w="214313" h="342900">
                <a:moveTo>
                  <a:pt x="42863" y="107156"/>
                </a:moveTo>
                <a:cubicBezTo>
                  <a:pt x="42863" y="71661"/>
                  <a:pt x="71661" y="42863"/>
                  <a:pt x="107156" y="42863"/>
                </a:cubicBezTo>
                <a:cubicBezTo>
                  <a:pt x="142652" y="42863"/>
                  <a:pt x="171450" y="71661"/>
                  <a:pt x="171450" y="107156"/>
                </a:cubicBezTo>
                <a:cubicBezTo>
                  <a:pt x="171450" y="135754"/>
                  <a:pt x="152765" y="159998"/>
                  <a:pt x="126913" y="168369"/>
                </a:cubicBezTo>
                <a:cubicBezTo>
                  <a:pt x="107893" y="174531"/>
                  <a:pt x="85725" y="192011"/>
                  <a:pt x="85725" y="219670"/>
                </a:cubicBezTo>
                <a:lnTo>
                  <a:pt x="85725" y="235744"/>
                </a:lnTo>
                <a:cubicBezTo>
                  <a:pt x="85725" y="247598"/>
                  <a:pt x="95302" y="257175"/>
                  <a:pt x="107156" y="257175"/>
                </a:cubicBezTo>
                <a:cubicBezTo>
                  <a:pt x="119010" y="257175"/>
                  <a:pt x="128588" y="247598"/>
                  <a:pt x="128588" y="235744"/>
                </a:cubicBezTo>
                <a:lnTo>
                  <a:pt x="128588" y="219670"/>
                </a:lnTo>
                <a:cubicBezTo>
                  <a:pt x="128588" y="218532"/>
                  <a:pt x="128989" y="216924"/>
                  <a:pt x="130932" y="214781"/>
                </a:cubicBezTo>
                <a:cubicBezTo>
                  <a:pt x="132941" y="212571"/>
                  <a:pt x="136222" y="210428"/>
                  <a:pt x="140107" y="209156"/>
                </a:cubicBezTo>
                <a:cubicBezTo>
                  <a:pt x="183170" y="195292"/>
                  <a:pt x="214313" y="154908"/>
                  <a:pt x="214313" y="107156"/>
                </a:cubicBezTo>
                <a:cubicBezTo>
                  <a:pt x="214313" y="47952"/>
                  <a:pt x="166360" y="0"/>
                  <a:pt x="107156" y="0"/>
                </a:cubicBezTo>
                <a:cubicBezTo>
                  <a:pt x="47952" y="0"/>
                  <a:pt x="0" y="47952"/>
                  <a:pt x="0" y="107156"/>
                </a:cubicBezTo>
                <a:cubicBezTo>
                  <a:pt x="0" y="119010"/>
                  <a:pt x="9577" y="128588"/>
                  <a:pt x="21431" y="128588"/>
                </a:cubicBezTo>
                <a:cubicBezTo>
                  <a:pt x="33285" y="128588"/>
                  <a:pt x="42863" y="119010"/>
                  <a:pt x="42863" y="107156"/>
                </a:cubicBezTo>
                <a:close/>
                <a:moveTo>
                  <a:pt x="107156" y="342900"/>
                </a:moveTo>
                <a:cubicBezTo>
                  <a:pt x="121957" y="342900"/>
                  <a:pt x="133945" y="330912"/>
                  <a:pt x="133945" y="316111"/>
                </a:cubicBezTo>
                <a:cubicBezTo>
                  <a:pt x="133945" y="301310"/>
                  <a:pt x="121957" y="289322"/>
                  <a:pt x="107156" y="289322"/>
                </a:cubicBezTo>
                <a:cubicBezTo>
                  <a:pt x="92355" y="289322"/>
                  <a:pt x="80367" y="301310"/>
                  <a:pt x="80367" y="316111"/>
                </a:cubicBezTo>
                <a:cubicBezTo>
                  <a:pt x="80367" y="330912"/>
                  <a:pt x="92355" y="342900"/>
                  <a:pt x="107156" y="342900"/>
                </a:cubicBezTo>
                <a:close/>
              </a:path>
            </a:pathLst>
          </a:custGeom>
          <a:solidFill>
            <a:srgbClr val="3d3d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6"/>
          <p:cNvSpPr/>
          <p:nvPr/>
        </p:nvSpPr>
        <p:spPr>
          <a:xfrm>
            <a:off x="1676520" y="1866960"/>
            <a:ext cx="99723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1" lang="zh-CN" sz="2250" spc="-1" strike="noStrike">
                <a:solidFill>
                  <a:srgbClr val="f8f7f4"/>
                </a:solidFill>
                <a:latin typeface="MiSans"/>
                <a:ea typeface="MiSans"/>
              </a:rPr>
              <a:t>我们要解决的核心问题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139" name="Text 7"/>
          <p:cNvSpPr/>
          <p:nvPr/>
        </p:nvSpPr>
        <p:spPr>
          <a:xfrm>
            <a:off x="1676520" y="2362320"/>
            <a:ext cx="9924840" cy="61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buNone/>
            </a:pPr>
            <a:r>
              <a:rPr b="0" lang="zh-CN" sz="1500" spc="-1" strike="noStrike">
                <a:solidFill>
                  <a:srgbClr val="f8f7f4"/>
                </a:solidFill>
                <a:latin typeface="MiSans"/>
                <a:ea typeface="MiSans"/>
              </a:rPr>
              <a:t>能不能用一种</a:t>
            </a:r>
            <a:r>
              <a:rPr b="1" lang="en-US" sz="1500" spc="-1" strike="noStrike">
                <a:solidFill>
                  <a:srgbClr val="3d3d3d"/>
                </a:solidFill>
                <a:highlight>
                  <a:srgbClr val="e6c27c"/>
                </a:highlight>
                <a:latin typeface="MiSans"/>
                <a:ea typeface="MiSans"/>
              </a:rPr>
              <a:t> 更自然、更主动 </a:t>
            </a:r>
            <a:r>
              <a:rPr b="0" lang="zh-CN" sz="1500" spc="-1" strike="noStrike">
                <a:solidFill>
                  <a:srgbClr val="f8f7f4"/>
                </a:solidFill>
                <a:latin typeface="MiSans"/>
                <a:ea typeface="MiSans"/>
              </a:rPr>
              <a:t>的方式，让老人几乎不需要学习复杂操作，就能获得持续陪护；同时让家属也能低成本地参与照护，并获得</a:t>
            </a:r>
            <a:r>
              <a:rPr b="1" lang="en-US" sz="1500" spc="-1" strike="noStrike">
                <a:solidFill>
                  <a:srgbClr val="3d3d3d"/>
                </a:solidFill>
                <a:highlight>
                  <a:srgbClr val="e6c27c"/>
                </a:highlight>
                <a:latin typeface="MiSans"/>
                <a:ea typeface="MiSans"/>
              </a:rPr>
              <a:t> 清晰、可信 </a:t>
            </a:r>
            <a:r>
              <a:rPr b="0" lang="zh-CN" sz="1500" spc="-1" strike="noStrike">
                <a:solidFill>
                  <a:srgbClr val="f8f7f4"/>
                </a:solidFill>
                <a:latin typeface="MiSans"/>
                <a:ea typeface="MiSans"/>
              </a:rPr>
              <a:t>的反馈。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40" name="Shape 8"/>
          <p:cNvSpPr/>
          <p:nvPr/>
        </p:nvSpPr>
        <p:spPr>
          <a:xfrm>
            <a:off x="399960" y="3514680"/>
            <a:ext cx="5581440" cy="2962080"/>
          </a:xfrm>
          <a:custGeom>
            <a:avLst/>
            <a:gdLst/>
            <a:ahLst/>
            <a:rect l="l" t="t" r="r" b="b"/>
            <a:pathLst>
              <a:path w="5581650" h="2962275">
                <a:moveTo>
                  <a:pt x="38100" y="0"/>
                </a:moveTo>
                <a:lnTo>
                  <a:pt x="5429241" y="0"/>
                </a:lnTo>
                <a:cubicBezTo>
                  <a:pt x="5513414" y="0"/>
                  <a:pt x="5581650" y="68236"/>
                  <a:pt x="5581650" y="152409"/>
                </a:cubicBezTo>
                <a:lnTo>
                  <a:pt x="5581650" y="2809866"/>
                </a:lnTo>
                <a:cubicBezTo>
                  <a:pt x="5581650" y="2894039"/>
                  <a:pt x="5513414" y="2962275"/>
                  <a:pt x="5429241" y="2962275"/>
                </a:cubicBezTo>
                <a:lnTo>
                  <a:pt x="38100" y="2962275"/>
                </a:lnTo>
                <a:cubicBezTo>
                  <a:pt x="17072" y="2962275"/>
                  <a:pt x="0" y="2945203"/>
                  <a:pt x="0" y="2924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dist="95400" dir="5400000" blurRad="14292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1" name="Shape 9"/>
          <p:cNvSpPr/>
          <p:nvPr/>
        </p:nvSpPr>
        <p:spPr>
          <a:xfrm>
            <a:off x="399960" y="3514680"/>
            <a:ext cx="37800" cy="2962080"/>
          </a:xfrm>
          <a:custGeom>
            <a:avLst/>
            <a:gdLst/>
            <a:ahLst/>
            <a:rect l="l" t="t" r="r" b="b"/>
            <a:pathLst>
              <a:path w="38100" h="2962275">
                <a:moveTo>
                  <a:pt x="38100" y="0"/>
                </a:moveTo>
                <a:lnTo>
                  <a:pt x="38100" y="0"/>
                </a:lnTo>
                <a:lnTo>
                  <a:pt x="38100" y="2962275"/>
                </a:lnTo>
                <a:lnTo>
                  <a:pt x="38100" y="2962275"/>
                </a:lnTo>
                <a:cubicBezTo>
                  <a:pt x="17072" y="2962275"/>
                  <a:pt x="0" y="2945203"/>
                  <a:pt x="0" y="2924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a7a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Shape 10"/>
          <p:cNvSpPr/>
          <p:nvPr/>
        </p:nvSpPr>
        <p:spPr>
          <a:xfrm>
            <a:off x="723960" y="3819600"/>
            <a:ext cx="609120" cy="609120"/>
          </a:xfrm>
          <a:custGeom>
            <a:avLst/>
            <a:gdLst/>
            <a:ah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5a7a6a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Shape 11"/>
          <p:cNvSpPr/>
          <p:nvPr/>
        </p:nvSpPr>
        <p:spPr>
          <a:xfrm>
            <a:off x="870480" y="3981600"/>
            <a:ext cx="321120" cy="285480"/>
          </a:xfrm>
          <a:custGeom>
            <a:avLst/>
            <a:gdLst/>
            <a:ahLst/>
            <a:rect l="l" t="t" r="r" b="b"/>
            <a:pathLst>
              <a:path w="321469" h="285750">
                <a:moveTo>
                  <a:pt x="35719" y="71438"/>
                </a:moveTo>
                <a:cubicBezTo>
                  <a:pt x="35719" y="36938"/>
                  <a:pt x="63728" y="8930"/>
                  <a:pt x="98227" y="8930"/>
                </a:cubicBezTo>
                <a:cubicBezTo>
                  <a:pt x="132726" y="8930"/>
                  <a:pt x="160734" y="36938"/>
                  <a:pt x="160734" y="71437"/>
                </a:cubicBezTo>
                <a:cubicBezTo>
                  <a:pt x="160734" y="105937"/>
                  <a:pt x="132726" y="133945"/>
                  <a:pt x="98227" y="133945"/>
                </a:cubicBezTo>
                <a:cubicBezTo>
                  <a:pt x="63728" y="133945"/>
                  <a:pt x="35719" y="105937"/>
                  <a:pt x="35719" y="71438"/>
                </a:cubicBezTo>
                <a:close/>
                <a:moveTo>
                  <a:pt x="0" y="258961"/>
                </a:moveTo>
                <a:cubicBezTo>
                  <a:pt x="0" y="204713"/>
                  <a:pt x="43979" y="160734"/>
                  <a:pt x="98227" y="160734"/>
                </a:cubicBezTo>
                <a:cubicBezTo>
                  <a:pt x="152474" y="160734"/>
                  <a:pt x="196453" y="204713"/>
                  <a:pt x="196453" y="258961"/>
                </a:cubicBezTo>
                <a:lnTo>
                  <a:pt x="196453" y="262310"/>
                </a:lnTo>
                <a:cubicBezTo>
                  <a:pt x="196453" y="275258"/>
                  <a:pt x="185961" y="285750"/>
                  <a:pt x="173013" y="285750"/>
                </a:cubicBezTo>
                <a:lnTo>
                  <a:pt x="23440" y="285750"/>
                </a:lnTo>
                <a:cubicBezTo>
                  <a:pt x="10492" y="285750"/>
                  <a:pt x="0" y="275258"/>
                  <a:pt x="0" y="262310"/>
                </a:cubicBezTo>
                <a:lnTo>
                  <a:pt x="0" y="258961"/>
                </a:lnTo>
                <a:close/>
                <a:moveTo>
                  <a:pt x="241102" y="35719"/>
                </a:moveTo>
                <a:cubicBezTo>
                  <a:pt x="270672" y="35719"/>
                  <a:pt x="294680" y="59726"/>
                  <a:pt x="294680" y="89297"/>
                </a:cubicBezTo>
                <a:cubicBezTo>
                  <a:pt x="294680" y="118867"/>
                  <a:pt x="270672" y="142875"/>
                  <a:pt x="241102" y="142875"/>
                </a:cubicBezTo>
                <a:cubicBezTo>
                  <a:pt x="211531" y="142875"/>
                  <a:pt x="187523" y="118867"/>
                  <a:pt x="187523" y="89297"/>
                </a:cubicBezTo>
                <a:cubicBezTo>
                  <a:pt x="187523" y="59726"/>
                  <a:pt x="211531" y="35719"/>
                  <a:pt x="241102" y="35719"/>
                </a:cubicBezTo>
                <a:close/>
                <a:moveTo>
                  <a:pt x="241102" y="169664"/>
                </a:moveTo>
                <a:cubicBezTo>
                  <a:pt x="285471" y="169664"/>
                  <a:pt x="321469" y="205662"/>
                  <a:pt x="321469" y="250031"/>
                </a:cubicBezTo>
                <a:lnTo>
                  <a:pt x="321469" y="262533"/>
                </a:lnTo>
                <a:cubicBezTo>
                  <a:pt x="321469" y="275369"/>
                  <a:pt x="311088" y="285750"/>
                  <a:pt x="298252" y="285750"/>
                </a:cubicBezTo>
                <a:lnTo>
                  <a:pt x="217438" y="285750"/>
                </a:lnTo>
                <a:cubicBezTo>
                  <a:pt x="221121" y="278774"/>
                  <a:pt x="223242" y="270793"/>
                  <a:pt x="223242" y="262310"/>
                </a:cubicBezTo>
                <a:lnTo>
                  <a:pt x="223242" y="258961"/>
                </a:lnTo>
                <a:cubicBezTo>
                  <a:pt x="223242" y="230219"/>
                  <a:pt x="213531" y="203764"/>
                  <a:pt x="197290" y="182668"/>
                </a:cubicBezTo>
                <a:cubicBezTo>
                  <a:pt x="209903" y="174464"/>
                  <a:pt x="224972" y="169664"/>
                  <a:pt x="241102" y="169664"/>
                </a:cubicBezTo>
                <a:close/>
              </a:path>
            </a:pathLst>
          </a:custGeom>
          <a:solidFill>
            <a:srgbClr val="5a7a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12"/>
          <p:cNvSpPr/>
          <p:nvPr/>
        </p:nvSpPr>
        <p:spPr>
          <a:xfrm>
            <a:off x="1486080" y="3971880"/>
            <a:ext cx="1257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zh-CN" sz="1800" spc="-1" strike="noStrike">
                <a:solidFill>
                  <a:srgbClr val="3d3d3d"/>
                </a:solidFill>
                <a:latin typeface="MiSans"/>
                <a:ea typeface="MiSans"/>
              </a:rPr>
              <a:t>老人端价值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5" name="Shape 13"/>
          <p:cNvSpPr/>
          <p:nvPr/>
        </p:nvSpPr>
        <p:spPr>
          <a:xfrm>
            <a:off x="747720" y="4695840"/>
            <a:ext cx="190080" cy="190080"/>
          </a:xfrm>
          <a:custGeom>
            <a:avLst/>
            <a:gdLst/>
            <a:ah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5a7a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4"/>
          <p:cNvSpPr/>
          <p:nvPr/>
        </p:nvSpPr>
        <p:spPr>
          <a:xfrm>
            <a:off x="1076400" y="4657680"/>
            <a:ext cx="1800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zh-CN" sz="1350" spc="-1" strike="noStrike">
                <a:solidFill>
                  <a:srgbClr val="3d3d3d">
                    <a:alpha val="80000"/>
                  </a:srgbClr>
                </a:solidFill>
                <a:latin typeface="MiSans"/>
                <a:ea typeface="MiSans"/>
              </a:rPr>
              <a:t>零学习成本，自然交互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47" name="Shape 15"/>
          <p:cNvSpPr/>
          <p:nvPr/>
        </p:nvSpPr>
        <p:spPr>
          <a:xfrm>
            <a:off x="747720" y="5114880"/>
            <a:ext cx="190080" cy="190080"/>
          </a:xfrm>
          <a:custGeom>
            <a:avLst/>
            <a:gdLst/>
            <a:ah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5a7a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16"/>
          <p:cNvSpPr/>
          <p:nvPr/>
        </p:nvSpPr>
        <p:spPr>
          <a:xfrm>
            <a:off x="1076400" y="5076720"/>
            <a:ext cx="1628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zh-CN" sz="1350" spc="-1" strike="noStrike">
                <a:solidFill>
                  <a:srgbClr val="3d3d3d">
                    <a:alpha val="80000"/>
                  </a:srgbClr>
                </a:solidFill>
                <a:latin typeface="MiSans"/>
                <a:ea typeface="MiSans"/>
              </a:rPr>
              <a:t>持续陪伴，情感支持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49" name="Shape 17"/>
          <p:cNvSpPr/>
          <p:nvPr/>
        </p:nvSpPr>
        <p:spPr>
          <a:xfrm>
            <a:off x="747720" y="5533920"/>
            <a:ext cx="190080" cy="190080"/>
          </a:xfrm>
          <a:custGeom>
            <a:avLst/>
            <a:gdLst/>
            <a:ah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5a7a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18"/>
          <p:cNvSpPr/>
          <p:nvPr/>
        </p:nvSpPr>
        <p:spPr>
          <a:xfrm>
            <a:off x="1076400" y="5495760"/>
            <a:ext cx="1628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zh-CN" sz="1350" spc="-1" strike="noStrike">
                <a:solidFill>
                  <a:srgbClr val="3d3d3d">
                    <a:alpha val="80000"/>
                  </a:srgbClr>
                </a:solidFill>
                <a:latin typeface="MiSans"/>
                <a:ea typeface="MiSans"/>
              </a:rPr>
              <a:t>主动提醒，生活助手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51" name="Shape 19"/>
          <p:cNvSpPr/>
          <p:nvPr/>
        </p:nvSpPr>
        <p:spPr>
          <a:xfrm>
            <a:off x="6229440" y="3514680"/>
            <a:ext cx="5581440" cy="2962080"/>
          </a:xfrm>
          <a:custGeom>
            <a:avLst/>
            <a:gdLst/>
            <a:ahLst/>
            <a:rect l="l" t="t" r="r" b="b"/>
            <a:pathLst>
              <a:path w="5581650" h="2962275">
                <a:moveTo>
                  <a:pt x="38100" y="0"/>
                </a:moveTo>
                <a:lnTo>
                  <a:pt x="5429241" y="0"/>
                </a:lnTo>
                <a:cubicBezTo>
                  <a:pt x="5513414" y="0"/>
                  <a:pt x="5581650" y="68236"/>
                  <a:pt x="5581650" y="152409"/>
                </a:cubicBezTo>
                <a:lnTo>
                  <a:pt x="5581650" y="2809866"/>
                </a:lnTo>
                <a:cubicBezTo>
                  <a:pt x="5581650" y="2894039"/>
                  <a:pt x="5513414" y="2962275"/>
                  <a:pt x="5429241" y="2962275"/>
                </a:cubicBezTo>
                <a:lnTo>
                  <a:pt x="38100" y="2962275"/>
                </a:lnTo>
                <a:cubicBezTo>
                  <a:pt x="17072" y="2962275"/>
                  <a:pt x="0" y="2945203"/>
                  <a:pt x="0" y="2924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  <a:effectLst>
            <a:outerShdw dist="95400" dir="5400000" blurRad="14292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2" name="Shape 20"/>
          <p:cNvSpPr/>
          <p:nvPr/>
        </p:nvSpPr>
        <p:spPr>
          <a:xfrm>
            <a:off x="6229440" y="3514680"/>
            <a:ext cx="37800" cy="2962080"/>
          </a:xfrm>
          <a:custGeom>
            <a:avLst/>
            <a:gdLst/>
            <a:ahLst/>
            <a:rect l="l" t="t" r="r" b="b"/>
            <a:pathLst>
              <a:path w="38100" h="2962275">
                <a:moveTo>
                  <a:pt x="38100" y="0"/>
                </a:moveTo>
                <a:lnTo>
                  <a:pt x="38100" y="0"/>
                </a:lnTo>
                <a:lnTo>
                  <a:pt x="38100" y="2962275"/>
                </a:lnTo>
                <a:lnTo>
                  <a:pt x="38100" y="2962275"/>
                </a:lnTo>
                <a:cubicBezTo>
                  <a:pt x="17072" y="2962275"/>
                  <a:pt x="0" y="2945203"/>
                  <a:pt x="0" y="29241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88a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Shape 21"/>
          <p:cNvSpPr/>
          <p:nvPr/>
        </p:nvSpPr>
        <p:spPr>
          <a:xfrm>
            <a:off x="6553080" y="3819600"/>
            <a:ext cx="609120" cy="609120"/>
          </a:xfrm>
          <a:custGeom>
            <a:avLst/>
            <a:gdLst/>
            <a:ah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b88a75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Shape 22"/>
          <p:cNvSpPr/>
          <p:nvPr/>
        </p:nvSpPr>
        <p:spPr>
          <a:xfrm>
            <a:off x="6753240" y="3981600"/>
            <a:ext cx="213840" cy="285480"/>
          </a:xfrm>
          <a:custGeom>
            <a:avLst/>
            <a:gdLst/>
            <a:ahLst/>
            <a:rect l="l" t="t" r="r" b="b"/>
            <a:pathLst>
              <a:path w="214313" h="285750">
                <a:moveTo>
                  <a:pt x="8930" y="35719"/>
                </a:moveTo>
                <a:cubicBezTo>
                  <a:pt x="8930" y="16018"/>
                  <a:pt x="24947" y="0"/>
                  <a:pt x="44648" y="0"/>
                </a:cubicBezTo>
                <a:lnTo>
                  <a:pt x="169664" y="0"/>
                </a:lnTo>
                <a:cubicBezTo>
                  <a:pt x="189365" y="0"/>
                  <a:pt x="205383" y="16018"/>
                  <a:pt x="205383" y="35719"/>
                </a:cubicBezTo>
                <a:lnTo>
                  <a:pt x="205383" y="250031"/>
                </a:lnTo>
                <a:cubicBezTo>
                  <a:pt x="205383" y="269732"/>
                  <a:pt x="189365" y="285750"/>
                  <a:pt x="169664" y="285750"/>
                </a:cubicBezTo>
                <a:lnTo>
                  <a:pt x="44648" y="285750"/>
                </a:lnTo>
                <a:cubicBezTo>
                  <a:pt x="24947" y="285750"/>
                  <a:pt x="8930" y="269732"/>
                  <a:pt x="8930" y="250031"/>
                </a:cubicBezTo>
                <a:lnTo>
                  <a:pt x="8930" y="35719"/>
                </a:lnTo>
                <a:close/>
                <a:moveTo>
                  <a:pt x="44648" y="35719"/>
                </a:moveTo>
                <a:lnTo>
                  <a:pt x="44648" y="205383"/>
                </a:lnTo>
                <a:lnTo>
                  <a:pt x="169664" y="205383"/>
                </a:lnTo>
                <a:lnTo>
                  <a:pt x="169664" y="35719"/>
                </a:lnTo>
                <a:lnTo>
                  <a:pt x="44648" y="35719"/>
                </a:lnTo>
                <a:close/>
                <a:moveTo>
                  <a:pt x="107156" y="263426"/>
                </a:moveTo>
                <a:cubicBezTo>
                  <a:pt x="117035" y="263426"/>
                  <a:pt x="125016" y="255445"/>
                  <a:pt x="125016" y="245566"/>
                </a:cubicBezTo>
                <a:cubicBezTo>
                  <a:pt x="125016" y="235688"/>
                  <a:pt x="117035" y="227707"/>
                  <a:pt x="107156" y="227707"/>
                </a:cubicBezTo>
                <a:cubicBezTo>
                  <a:pt x="97278" y="227707"/>
                  <a:pt x="89297" y="235688"/>
                  <a:pt x="89297" y="245566"/>
                </a:cubicBezTo>
                <a:cubicBezTo>
                  <a:pt x="89297" y="255445"/>
                  <a:pt x="97278" y="263426"/>
                  <a:pt x="107156" y="263426"/>
                </a:cubicBezTo>
                <a:close/>
              </a:path>
            </a:pathLst>
          </a:custGeom>
          <a:solidFill>
            <a:srgbClr val="b88a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23"/>
          <p:cNvSpPr/>
          <p:nvPr/>
        </p:nvSpPr>
        <p:spPr>
          <a:xfrm>
            <a:off x="7315200" y="3971880"/>
            <a:ext cx="12571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buNone/>
            </a:pPr>
            <a:r>
              <a:rPr b="1" lang="zh-CN" sz="1800" spc="-1" strike="noStrike">
                <a:solidFill>
                  <a:srgbClr val="3d3d3d"/>
                </a:solidFill>
                <a:latin typeface="MiSans"/>
                <a:ea typeface="MiSans"/>
              </a:rPr>
              <a:t>家属端价值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6" name="Shape 24"/>
          <p:cNvSpPr/>
          <p:nvPr/>
        </p:nvSpPr>
        <p:spPr>
          <a:xfrm>
            <a:off x="6576840" y="4695840"/>
            <a:ext cx="190080" cy="190080"/>
          </a:xfrm>
          <a:custGeom>
            <a:avLst/>
            <a:gdLst/>
            <a:ah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b88a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25"/>
          <p:cNvSpPr/>
          <p:nvPr/>
        </p:nvSpPr>
        <p:spPr>
          <a:xfrm>
            <a:off x="6905520" y="4657680"/>
            <a:ext cx="1628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zh-CN" sz="1350" spc="-1" strike="noStrike">
                <a:solidFill>
                  <a:srgbClr val="3d3d3d">
                    <a:alpha val="80000"/>
                  </a:srgbClr>
                </a:solidFill>
                <a:latin typeface="MiSans"/>
                <a:ea typeface="MiSans"/>
              </a:rPr>
              <a:t>低成本参与远程照护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58" name="Shape 26"/>
          <p:cNvSpPr/>
          <p:nvPr/>
        </p:nvSpPr>
        <p:spPr>
          <a:xfrm>
            <a:off x="6576840" y="5114880"/>
            <a:ext cx="190080" cy="190080"/>
          </a:xfrm>
          <a:custGeom>
            <a:avLst/>
            <a:gdLst/>
            <a:ah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b88a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27"/>
          <p:cNvSpPr/>
          <p:nvPr/>
        </p:nvSpPr>
        <p:spPr>
          <a:xfrm>
            <a:off x="6905520" y="5076720"/>
            <a:ext cx="16282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zh-CN" sz="1350" spc="-1" strike="noStrike">
                <a:solidFill>
                  <a:srgbClr val="3d3d3d">
                    <a:alpha val="80000"/>
                  </a:srgbClr>
                </a:solidFill>
                <a:latin typeface="MiSans"/>
                <a:ea typeface="MiSans"/>
              </a:rPr>
              <a:t>清晰可信的状态反馈</a:t>
            </a:r>
            <a:endParaRPr b="0" lang="en-US" sz="1350" spc="-1" strike="noStrike">
              <a:latin typeface="Arial"/>
            </a:endParaRPr>
          </a:p>
        </p:txBody>
      </p:sp>
      <p:sp>
        <p:nvSpPr>
          <p:cNvPr id="160" name="Shape 28"/>
          <p:cNvSpPr/>
          <p:nvPr/>
        </p:nvSpPr>
        <p:spPr>
          <a:xfrm>
            <a:off x="6576840" y="5533920"/>
            <a:ext cx="190080" cy="190080"/>
          </a:xfrm>
          <a:custGeom>
            <a:avLst/>
            <a:gdLst/>
            <a:ah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b88a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29"/>
          <p:cNvSpPr/>
          <p:nvPr/>
        </p:nvSpPr>
        <p:spPr>
          <a:xfrm>
            <a:off x="6905520" y="5495760"/>
            <a:ext cx="128556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0" lang="zh-CN" sz="1350" spc="-1" strike="noStrike">
                <a:solidFill>
                  <a:srgbClr val="3d3d3d">
                    <a:alpha val="80000"/>
                  </a:srgbClr>
                </a:solidFill>
                <a:latin typeface="MiSans"/>
                <a:ea typeface="MiSans"/>
              </a:rPr>
              <a:t>结构化信息管理</a:t>
            </a:r>
            <a:endParaRPr b="0" lang="en-US" sz="13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/>
          <p:nvPr/>
        </p:nvSpPr>
        <p:spPr>
          <a:xfrm>
            <a:off x="370440" y="370440"/>
            <a:ext cx="115246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114" strike="noStrike">
                <a:solidFill>
                  <a:srgbClr val="5a7a6a"/>
                </a:solidFill>
                <a:latin typeface="MiSans"/>
                <a:ea typeface="MiSans"/>
              </a:rPr>
              <a:t>ELDERLY END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63" name="Text 1"/>
          <p:cNvSpPr/>
          <p:nvPr/>
        </p:nvSpPr>
        <p:spPr>
          <a:xfrm>
            <a:off x="370440" y="667080"/>
            <a:ext cx="1167300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zh-CN" sz="3500" spc="-1" strike="noStrike">
                <a:solidFill>
                  <a:srgbClr val="3d3d3d"/>
                </a:solidFill>
                <a:latin typeface="MiSans"/>
                <a:ea typeface="MiSans"/>
              </a:rPr>
              <a:t>老人端：</a:t>
            </a:r>
            <a:r>
              <a:rPr b="1" lang="en-US" sz="3500" spc="-1" strike="noStrike">
                <a:solidFill>
                  <a:srgbClr val="3d3d3d"/>
                </a:solidFill>
                <a:latin typeface="MiSans"/>
                <a:ea typeface="MiSans"/>
              </a:rPr>
              <a:t>Embodied Agent</a:t>
            </a:r>
            <a:endParaRPr b="0" lang="en-US" sz="3500" spc="-1" strike="noStrike">
              <a:latin typeface="Arial"/>
            </a:endParaRPr>
          </a:p>
        </p:txBody>
      </p:sp>
      <p:sp>
        <p:nvSpPr>
          <p:cNvPr id="164" name="Shape 2"/>
          <p:cNvSpPr/>
          <p:nvPr/>
        </p:nvSpPr>
        <p:spPr>
          <a:xfrm>
            <a:off x="370440" y="1260000"/>
            <a:ext cx="740880" cy="36720"/>
          </a:xfrm>
          <a:custGeom>
            <a:avLst/>
            <a:gdLst/>
            <a:ahLst/>
            <a:rect l="l" t="t" r="r" b="b"/>
            <a:pathLst>
              <a:path w="741155" h="37058">
                <a:moveTo>
                  <a:pt x="0" y="0"/>
                </a:moveTo>
                <a:lnTo>
                  <a:pt x="741155" y="0"/>
                </a:lnTo>
                <a:lnTo>
                  <a:pt x="741155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5" name="图片 13" descr="f13edaaf1119c9b467667f1f474d06c9"/>
          <p:cNvPicPr/>
          <p:nvPr/>
        </p:nvPicPr>
        <p:blipFill>
          <a:blip r:embed="rId1"/>
          <a:stretch/>
        </p:blipFill>
        <p:spPr>
          <a:xfrm>
            <a:off x="8391600" y="1359360"/>
            <a:ext cx="3061440" cy="4391280"/>
          </a:xfrm>
          <a:prstGeom prst="rect">
            <a:avLst/>
          </a:prstGeom>
          <a:ln w="0">
            <a:noFill/>
          </a:ln>
        </p:spPr>
      </p:pic>
      <p:pic>
        <p:nvPicPr>
          <p:cNvPr id="166" name="图片 15" descr="10758982922"/>
          <p:cNvPicPr/>
          <p:nvPr/>
        </p:nvPicPr>
        <p:blipFill>
          <a:blip r:embed="rId2"/>
          <a:stretch/>
        </p:blipFill>
        <p:spPr>
          <a:xfrm>
            <a:off x="5928840" y="3429000"/>
            <a:ext cx="914040" cy="914040"/>
          </a:xfrm>
          <a:prstGeom prst="rect">
            <a:avLst/>
          </a:prstGeom>
          <a:ln w="0">
            <a:noFill/>
          </a:ln>
        </p:spPr>
      </p:pic>
      <p:sp>
        <p:nvSpPr>
          <p:cNvPr id="167" name="文本框 16"/>
          <p:cNvSpPr/>
          <p:nvPr/>
        </p:nvSpPr>
        <p:spPr>
          <a:xfrm>
            <a:off x="9147240" y="6125040"/>
            <a:ext cx="27478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Embodied Agent</a:t>
            </a:r>
            <a:endParaRPr b="0" lang="en-US" sz="1500" spc="-1" strike="noStrike">
              <a:latin typeface="Arial"/>
            </a:endParaRPr>
          </a:p>
        </p:txBody>
      </p:sp>
      <p:sp>
        <p:nvSpPr>
          <p:cNvPr id="168" name="文本框 4"/>
          <p:cNvSpPr/>
          <p:nvPr/>
        </p:nvSpPr>
        <p:spPr>
          <a:xfrm>
            <a:off x="5326920" y="2453040"/>
            <a:ext cx="27478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5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尽可能的简单，</a:t>
            </a:r>
            <a:endParaRPr b="0" lang="en-US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zh-CN" sz="15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让老年人喜欢</a:t>
            </a:r>
            <a:endParaRPr b="0" lang="en-US" sz="1500" spc="-1" strike="noStrike">
              <a:latin typeface="Arial"/>
            </a:endParaRPr>
          </a:p>
        </p:txBody>
      </p:sp>
      <p:pic>
        <p:nvPicPr>
          <p:cNvPr id="169" name="图片 5" descr="c74f66c0017ab899dff73e5262cbb606"/>
          <p:cNvPicPr/>
          <p:nvPr/>
        </p:nvPicPr>
        <p:blipFill>
          <a:blip r:embed="rId3"/>
          <a:stretch/>
        </p:blipFill>
        <p:spPr>
          <a:xfrm>
            <a:off x="574560" y="2061720"/>
            <a:ext cx="4235040" cy="326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370440" y="370440"/>
            <a:ext cx="115246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114" strike="noStrike">
                <a:solidFill>
                  <a:srgbClr val="5a7a6a"/>
                </a:solidFill>
                <a:latin typeface="MiSans"/>
                <a:ea typeface="MiSans"/>
              </a:rPr>
              <a:t>ELDERLY END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370440" y="667080"/>
            <a:ext cx="1167300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zh-CN" sz="3500" spc="-1" strike="noStrike">
                <a:solidFill>
                  <a:srgbClr val="3d3d3d"/>
                </a:solidFill>
                <a:latin typeface="MiSans"/>
                <a:ea typeface="MiSans"/>
              </a:rPr>
              <a:t>家属</a:t>
            </a:r>
            <a:r>
              <a:rPr b="1" lang="zh-CN" sz="3500" spc="-1" strike="noStrike">
                <a:solidFill>
                  <a:srgbClr val="3d3d3d"/>
                </a:solidFill>
                <a:latin typeface="MiSans"/>
                <a:ea typeface="MiSans"/>
              </a:rPr>
              <a:t>端</a:t>
            </a:r>
            <a:endParaRPr b="0" lang="en-US" sz="3500" spc="-1" strike="noStrike">
              <a:latin typeface="Arial"/>
            </a:endParaRPr>
          </a:p>
        </p:txBody>
      </p:sp>
      <p:sp>
        <p:nvSpPr>
          <p:cNvPr id="172" name="Shape 2"/>
          <p:cNvSpPr/>
          <p:nvPr/>
        </p:nvSpPr>
        <p:spPr>
          <a:xfrm>
            <a:off x="370440" y="1260000"/>
            <a:ext cx="740880" cy="36720"/>
          </a:xfrm>
          <a:custGeom>
            <a:avLst/>
            <a:gdLst/>
            <a:ahLst/>
            <a:rect l="l" t="t" r="r" b="b"/>
            <a:pathLst>
              <a:path w="741155" h="37058">
                <a:moveTo>
                  <a:pt x="0" y="0"/>
                </a:moveTo>
                <a:lnTo>
                  <a:pt x="741155" y="0"/>
                </a:lnTo>
                <a:lnTo>
                  <a:pt x="741155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3" name="图片 28" descr=""/>
          <p:cNvPicPr/>
          <p:nvPr/>
        </p:nvPicPr>
        <p:blipFill>
          <a:blip r:embed="rId1"/>
          <a:stretch/>
        </p:blipFill>
        <p:spPr>
          <a:xfrm>
            <a:off x="1168560" y="1565280"/>
            <a:ext cx="9451080" cy="509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370440" y="370440"/>
            <a:ext cx="115246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114" strike="noStrike">
                <a:solidFill>
                  <a:srgbClr val="5a7a6a"/>
                </a:solidFill>
                <a:latin typeface="MiSans"/>
                <a:ea typeface="MiSans"/>
              </a:rPr>
              <a:t>ELDERLY END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370440" y="815760"/>
            <a:ext cx="1167300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zh-CN" sz="3500" spc="-1" strike="noStrike">
                <a:solidFill>
                  <a:srgbClr val="3d3d3d"/>
                </a:solidFill>
                <a:latin typeface="MiSans"/>
                <a:ea typeface="MiSans"/>
              </a:rPr>
              <a:t>家属</a:t>
            </a:r>
            <a:r>
              <a:rPr b="1" lang="zh-CN" sz="3500" spc="-1" strike="noStrike">
                <a:solidFill>
                  <a:srgbClr val="3d3d3d"/>
                </a:solidFill>
                <a:latin typeface="MiSans"/>
                <a:ea typeface="MiSans"/>
              </a:rPr>
              <a:t>端（总览）</a:t>
            </a:r>
            <a:endParaRPr b="0" lang="en-US" sz="3500" spc="-1" strike="noStrike">
              <a:latin typeface="Arial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370440" y="1260000"/>
            <a:ext cx="740880" cy="36720"/>
          </a:xfrm>
          <a:custGeom>
            <a:avLst/>
            <a:gdLst/>
            <a:ahLst/>
            <a:rect l="l" t="t" r="r" b="b"/>
            <a:pathLst>
              <a:path w="741155" h="37058">
                <a:moveTo>
                  <a:pt x="0" y="0"/>
                </a:moveTo>
                <a:lnTo>
                  <a:pt x="741155" y="0"/>
                </a:lnTo>
                <a:lnTo>
                  <a:pt x="741155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7" name="图片 4" descr="96b8e3236a76a6bc6dcc663dadecb9c4"/>
          <p:cNvPicPr/>
          <p:nvPr/>
        </p:nvPicPr>
        <p:blipFill>
          <a:blip r:embed="rId1"/>
          <a:stretch/>
        </p:blipFill>
        <p:spPr>
          <a:xfrm>
            <a:off x="838800" y="2792160"/>
            <a:ext cx="10827000" cy="2733480"/>
          </a:xfrm>
          <a:prstGeom prst="rect">
            <a:avLst/>
          </a:prstGeom>
          <a:ln w="0">
            <a:noFill/>
          </a:ln>
        </p:spPr>
      </p:pic>
      <p:sp>
        <p:nvSpPr>
          <p:cNvPr id="178" name="文本框 5"/>
          <p:cNvSpPr/>
          <p:nvPr/>
        </p:nvSpPr>
        <p:spPr>
          <a:xfrm>
            <a:off x="1350000" y="1738080"/>
            <a:ext cx="9138600" cy="7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5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这是一个面向家属的老人陪护管理界面，用于集中展示老人的当日状态与需要关注的信息。页面将心情、服药情况、待办事项和风险提示整合在同一处，帮助家属快速了解老人的生活状态，及时进行关怀、提醒与沟通，从而提升日常照护的效率与安心感。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/>
          <p:nvPr/>
        </p:nvSpPr>
        <p:spPr>
          <a:xfrm>
            <a:off x="370440" y="370440"/>
            <a:ext cx="115246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114" strike="noStrike">
                <a:solidFill>
                  <a:srgbClr val="5a7a6a"/>
                </a:solidFill>
                <a:latin typeface="MiSans"/>
                <a:ea typeface="MiSans"/>
              </a:rPr>
              <a:t>ELDERLY END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370440" y="667080"/>
            <a:ext cx="1167300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zh-CN" sz="3500" spc="-1" strike="noStrike">
                <a:solidFill>
                  <a:srgbClr val="3d3d3d"/>
                </a:solidFill>
                <a:latin typeface="MiSans"/>
                <a:ea typeface="MiSans"/>
              </a:rPr>
              <a:t>家属</a:t>
            </a:r>
            <a:r>
              <a:rPr b="1" lang="zh-CN" sz="3500" spc="-1" strike="noStrike">
                <a:solidFill>
                  <a:srgbClr val="3d3d3d"/>
                </a:solidFill>
                <a:latin typeface="MiSans"/>
                <a:ea typeface="MiSans"/>
              </a:rPr>
              <a:t>端</a:t>
            </a:r>
            <a:endParaRPr b="0" lang="en-US" sz="3500" spc="-1" strike="noStrike">
              <a:latin typeface="Arial"/>
            </a:endParaRPr>
          </a:p>
        </p:txBody>
      </p:sp>
      <p:sp>
        <p:nvSpPr>
          <p:cNvPr id="181" name="Shape 2"/>
          <p:cNvSpPr/>
          <p:nvPr/>
        </p:nvSpPr>
        <p:spPr>
          <a:xfrm>
            <a:off x="370440" y="1260000"/>
            <a:ext cx="740880" cy="36720"/>
          </a:xfrm>
          <a:custGeom>
            <a:avLst/>
            <a:gdLst/>
            <a:ahLst/>
            <a:rect l="l" t="t" r="r" b="b"/>
            <a:pathLst>
              <a:path w="741155" h="37058">
                <a:moveTo>
                  <a:pt x="0" y="0"/>
                </a:moveTo>
                <a:lnTo>
                  <a:pt x="741155" y="0"/>
                </a:lnTo>
                <a:lnTo>
                  <a:pt x="741155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82" name="图片 7" descr="10758982922"/>
          <p:cNvPicPr/>
          <p:nvPr/>
        </p:nvPicPr>
        <p:blipFill>
          <a:blip r:embed="rId1"/>
          <a:stretch/>
        </p:blipFill>
        <p:spPr>
          <a:xfrm>
            <a:off x="8574480" y="3446640"/>
            <a:ext cx="914040" cy="914040"/>
          </a:xfrm>
          <a:prstGeom prst="rect">
            <a:avLst/>
          </a:prstGeom>
          <a:ln w="0">
            <a:noFill/>
          </a:ln>
        </p:spPr>
      </p:pic>
      <p:pic>
        <p:nvPicPr>
          <p:cNvPr id="183" name="图片 9" descr="微信图片_20260416032411_587_2"/>
          <p:cNvPicPr/>
          <p:nvPr/>
        </p:nvPicPr>
        <p:blipFill>
          <a:blip r:embed="rId2"/>
          <a:stretch/>
        </p:blipFill>
        <p:spPr>
          <a:xfrm>
            <a:off x="370800" y="1297440"/>
            <a:ext cx="8203320" cy="5398920"/>
          </a:xfrm>
          <a:prstGeom prst="rect">
            <a:avLst/>
          </a:prstGeom>
          <a:ln w="0">
            <a:noFill/>
          </a:ln>
        </p:spPr>
      </p:pic>
      <p:sp>
        <p:nvSpPr>
          <p:cNvPr id="184" name="文本框 10"/>
          <p:cNvSpPr/>
          <p:nvPr/>
        </p:nvSpPr>
        <p:spPr>
          <a:xfrm>
            <a:off x="9565560" y="3719880"/>
            <a:ext cx="450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Personal portrait Prompt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MiSans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/>
          <p:nvPr/>
        </p:nvSpPr>
        <p:spPr>
          <a:xfrm>
            <a:off x="370440" y="370440"/>
            <a:ext cx="115246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114" strike="noStrike">
                <a:solidFill>
                  <a:srgbClr val="5a7a6a"/>
                </a:solidFill>
                <a:latin typeface="MiSans"/>
                <a:ea typeface="MiSans"/>
              </a:rPr>
              <a:t>ELDERLY END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86" name="Text 1"/>
          <p:cNvSpPr/>
          <p:nvPr/>
        </p:nvSpPr>
        <p:spPr>
          <a:xfrm>
            <a:off x="370440" y="667080"/>
            <a:ext cx="1167300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zh-CN" sz="3500" spc="-1" strike="noStrike">
                <a:solidFill>
                  <a:srgbClr val="3d3d3d"/>
                </a:solidFill>
                <a:latin typeface="MiSans"/>
                <a:ea typeface="MiSans"/>
              </a:rPr>
              <a:t>家属</a:t>
            </a:r>
            <a:r>
              <a:rPr b="1" lang="zh-CN" sz="3500" spc="-1" strike="noStrike">
                <a:solidFill>
                  <a:srgbClr val="3d3d3d"/>
                </a:solidFill>
                <a:latin typeface="MiSans"/>
                <a:ea typeface="MiSans"/>
              </a:rPr>
              <a:t>端</a:t>
            </a:r>
            <a:endParaRPr b="0" lang="en-US" sz="3500" spc="-1" strike="noStrike">
              <a:latin typeface="Arial"/>
            </a:endParaRPr>
          </a:p>
        </p:txBody>
      </p:sp>
      <p:sp>
        <p:nvSpPr>
          <p:cNvPr id="187" name="Shape 2"/>
          <p:cNvSpPr/>
          <p:nvPr/>
        </p:nvSpPr>
        <p:spPr>
          <a:xfrm>
            <a:off x="370440" y="1260000"/>
            <a:ext cx="740880" cy="36720"/>
          </a:xfrm>
          <a:custGeom>
            <a:avLst/>
            <a:gdLst/>
            <a:ahLst/>
            <a:rect l="l" t="t" r="r" b="b"/>
            <a:pathLst>
              <a:path w="741155" h="37058">
                <a:moveTo>
                  <a:pt x="0" y="0"/>
                </a:moveTo>
                <a:lnTo>
                  <a:pt x="741155" y="0"/>
                </a:lnTo>
                <a:lnTo>
                  <a:pt x="741155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88" name="图片 6" descr="10758982922"/>
          <p:cNvPicPr/>
          <p:nvPr/>
        </p:nvPicPr>
        <p:blipFill>
          <a:blip r:embed="rId1"/>
          <a:stretch/>
        </p:blipFill>
        <p:spPr>
          <a:xfrm rot="5400000">
            <a:off x="5523480" y="2971800"/>
            <a:ext cx="914040" cy="914040"/>
          </a:xfrm>
          <a:prstGeom prst="rect">
            <a:avLst/>
          </a:prstGeom>
          <a:ln w="0">
            <a:noFill/>
          </a:ln>
        </p:spPr>
      </p:pic>
      <p:pic>
        <p:nvPicPr>
          <p:cNvPr id="189" name="图片 5" descr="a5085b5fdf49c2dc722bf5e29680e1a6"/>
          <p:cNvPicPr/>
          <p:nvPr/>
        </p:nvPicPr>
        <p:blipFill>
          <a:blip r:embed="rId2"/>
          <a:stretch/>
        </p:blipFill>
        <p:spPr>
          <a:xfrm>
            <a:off x="1877040" y="1547640"/>
            <a:ext cx="3258360" cy="2039400"/>
          </a:xfrm>
          <a:prstGeom prst="rect">
            <a:avLst/>
          </a:prstGeom>
          <a:ln w="0">
            <a:noFill/>
          </a:ln>
        </p:spPr>
      </p:pic>
      <p:pic>
        <p:nvPicPr>
          <p:cNvPr id="190" name="图片 7" descr="95d04f1829e1193aa5d68325bc179a53"/>
          <p:cNvPicPr/>
          <p:nvPr/>
        </p:nvPicPr>
        <p:blipFill>
          <a:blip r:embed="rId3"/>
          <a:stretch/>
        </p:blipFill>
        <p:spPr>
          <a:xfrm>
            <a:off x="1666800" y="4022640"/>
            <a:ext cx="8543520" cy="2590560"/>
          </a:xfrm>
          <a:prstGeom prst="rect">
            <a:avLst/>
          </a:prstGeom>
          <a:ln w="0">
            <a:noFill/>
          </a:ln>
        </p:spPr>
      </p:pic>
      <p:pic>
        <p:nvPicPr>
          <p:cNvPr id="191" name="图片 11" descr="微信图片_20260416032411_587_2"/>
          <p:cNvPicPr/>
          <p:nvPr/>
        </p:nvPicPr>
        <p:blipFill>
          <a:blip r:embed="rId4"/>
          <a:stretch/>
        </p:blipFill>
        <p:spPr>
          <a:xfrm>
            <a:off x="7209720" y="1787400"/>
            <a:ext cx="2733840" cy="1799280"/>
          </a:xfrm>
          <a:prstGeom prst="rect">
            <a:avLst/>
          </a:prstGeom>
          <a:ln w="0">
            <a:noFill/>
          </a:ln>
        </p:spPr>
      </p:pic>
      <p:sp>
        <p:nvSpPr>
          <p:cNvPr id="192" name="文本框 14"/>
          <p:cNvSpPr/>
          <p:nvPr/>
        </p:nvSpPr>
        <p:spPr>
          <a:xfrm>
            <a:off x="7085880" y="983520"/>
            <a:ext cx="450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5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Personal portrait Prompt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MiSans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370440" y="370440"/>
            <a:ext cx="115246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114" strike="noStrike">
                <a:solidFill>
                  <a:srgbClr val="5a7a6a"/>
                </a:solidFill>
                <a:latin typeface="MiSans"/>
                <a:ea typeface="MiSans"/>
              </a:rPr>
              <a:t>ELDERLY END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370440" y="667080"/>
            <a:ext cx="1167300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zh-CN" sz="3500" spc="-1" strike="noStrike">
                <a:solidFill>
                  <a:srgbClr val="3d3d3d"/>
                </a:solidFill>
                <a:latin typeface="MiSans"/>
                <a:ea typeface="MiSans"/>
              </a:rPr>
              <a:t>家属</a:t>
            </a:r>
            <a:r>
              <a:rPr b="1" lang="zh-CN" sz="3500" spc="-1" strike="noStrike">
                <a:solidFill>
                  <a:srgbClr val="3d3d3d"/>
                </a:solidFill>
                <a:latin typeface="MiSans"/>
                <a:ea typeface="MiSans"/>
              </a:rPr>
              <a:t>端</a:t>
            </a:r>
            <a:endParaRPr b="0" lang="en-US" sz="3500" spc="-1" strike="noStrike"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370440" y="1260000"/>
            <a:ext cx="740880" cy="36720"/>
          </a:xfrm>
          <a:custGeom>
            <a:avLst/>
            <a:gdLst/>
            <a:ahLst/>
            <a:rect l="l" t="t" r="r" b="b"/>
            <a:pathLst>
              <a:path w="741155" h="37058">
                <a:moveTo>
                  <a:pt x="0" y="0"/>
                </a:moveTo>
                <a:lnTo>
                  <a:pt x="741155" y="0"/>
                </a:lnTo>
                <a:lnTo>
                  <a:pt x="741155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6" name="图片 4" descr="7f1bdacbc2701032c3724cdcebd1ca56"/>
          <p:cNvPicPr/>
          <p:nvPr/>
        </p:nvPicPr>
        <p:blipFill>
          <a:blip r:embed="rId1"/>
          <a:stretch/>
        </p:blipFill>
        <p:spPr>
          <a:xfrm>
            <a:off x="2605320" y="3267720"/>
            <a:ext cx="6990840" cy="2808720"/>
          </a:xfrm>
          <a:prstGeom prst="rect">
            <a:avLst/>
          </a:prstGeom>
          <a:ln w="0">
            <a:noFill/>
          </a:ln>
        </p:spPr>
      </p:pic>
      <p:sp>
        <p:nvSpPr>
          <p:cNvPr id="197" name="文本框 8"/>
          <p:cNvSpPr/>
          <p:nvPr/>
        </p:nvSpPr>
        <p:spPr>
          <a:xfrm>
            <a:off x="2605320" y="1817280"/>
            <a:ext cx="7122600" cy="12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5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这个“待传达</a:t>
            </a:r>
            <a:r>
              <a:rPr b="0" lang="en-US" sz="15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/</a:t>
            </a:r>
            <a:r>
              <a:rPr b="0" lang="zh-CN" sz="15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已计划事项”模块，相比于频繁、临时地与长辈沟通，优势在于信息传递更加集中、清晰和有计划。家属可以提前把需要提醒、关心或安排的事项整理好，并根据紧急程度和合适时机进行设置，减少了重要信息被遗漏或表达不清的情况。对长辈来说，这种方式更加温和；对家属来说，也能降低沟通成本，让陪伴和照护从“随时追着问”变成“有节奏地关心”。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MiSans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0"/>
          <p:cNvSpPr/>
          <p:nvPr/>
        </p:nvSpPr>
        <p:spPr>
          <a:xfrm>
            <a:off x="370440" y="370440"/>
            <a:ext cx="11524680" cy="22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buNone/>
            </a:pPr>
            <a:r>
              <a:rPr b="1" lang="en-US" sz="1170" spc="114" strike="noStrike">
                <a:solidFill>
                  <a:srgbClr val="5a7a6a"/>
                </a:solidFill>
                <a:latin typeface="MiSans"/>
                <a:ea typeface="MiSans"/>
              </a:rPr>
              <a:t>ELDERLY END</a:t>
            </a:r>
            <a:endParaRPr b="0" lang="en-US" sz="1170" spc="-1" strike="noStrike"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370440" y="667080"/>
            <a:ext cx="11673000" cy="44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buNone/>
            </a:pPr>
            <a:r>
              <a:rPr b="1" lang="zh-CN" sz="3500" spc="-1" strike="noStrike">
                <a:solidFill>
                  <a:srgbClr val="3d3d3d"/>
                </a:solidFill>
                <a:latin typeface="MiSans"/>
                <a:ea typeface="MiSans"/>
              </a:rPr>
              <a:t>家属</a:t>
            </a:r>
            <a:r>
              <a:rPr b="1" lang="zh-CN" sz="3500" spc="-1" strike="noStrike">
                <a:solidFill>
                  <a:srgbClr val="3d3d3d"/>
                </a:solidFill>
                <a:latin typeface="MiSans"/>
                <a:ea typeface="MiSans"/>
              </a:rPr>
              <a:t>端</a:t>
            </a:r>
            <a:endParaRPr b="0" lang="en-US" sz="3500" spc="-1" strike="noStrike">
              <a:latin typeface="Arial"/>
            </a:endParaRPr>
          </a:p>
        </p:txBody>
      </p:sp>
      <p:sp>
        <p:nvSpPr>
          <p:cNvPr id="200" name="Shape 2"/>
          <p:cNvSpPr/>
          <p:nvPr/>
        </p:nvSpPr>
        <p:spPr>
          <a:xfrm>
            <a:off x="370440" y="1260000"/>
            <a:ext cx="740880" cy="36720"/>
          </a:xfrm>
          <a:custGeom>
            <a:avLst/>
            <a:gdLst/>
            <a:ahLst/>
            <a:rect l="l" t="t" r="r" b="b"/>
            <a:pathLst>
              <a:path w="741155" h="37058">
                <a:moveTo>
                  <a:pt x="0" y="0"/>
                </a:moveTo>
                <a:lnTo>
                  <a:pt x="741155" y="0"/>
                </a:lnTo>
                <a:lnTo>
                  <a:pt x="741155" y="37058"/>
                </a:lnTo>
                <a:lnTo>
                  <a:pt x="0" y="37058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1" name="图片 15" descr="e1c10b60bd668f4a4e769649e4a2e263"/>
          <p:cNvPicPr/>
          <p:nvPr/>
        </p:nvPicPr>
        <p:blipFill>
          <a:blip r:embed="rId1"/>
          <a:srcRect l="0" t="0" r="0" b="2635"/>
          <a:stretch/>
        </p:blipFill>
        <p:spPr>
          <a:xfrm>
            <a:off x="615960" y="2316960"/>
            <a:ext cx="3819960" cy="2325600"/>
          </a:xfrm>
          <a:prstGeom prst="rect">
            <a:avLst/>
          </a:prstGeom>
          <a:ln w="0">
            <a:noFill/>
          </a:ln>
        </p:spPr>
      </p:pic>
      <p:sp>
        <p:nvSpPr>
          <p:cNvPr id="202" name="文本框 16"/>
          <p:cNvSpPr/>
          <p:nvPr/>
        </p:nvSpPr>
        <p:spPr>
          <a:xfrm>
            <a:off x="4850640" y="2405880"/>
            <a:ext cx="7122600" cy="12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zh-CN" sz="1500" spc="-1" strike="noStrike">
                <a:solidFill>
                  <a:srgbClr val="3d3d3d">
                    <a:alpha val="70000"/>
                  </a:srgbClr>
                </a:solidFill>
                <a:latin typeface="MiSans"/>
                <a:ea typeface="MiSans"/>
              </a:rPr>
              <a:t>这是一个轻度认知互动功能。系统会结合长辈的个人画像，主动发起一些温和、自然的交流，例如询问他们过去的工作经历、生活片段或熟悉的人和事。通过这种方式，可以引导老年人主动回忆，促进思维活动，帮助锻炼大脑功能。同时，在日常互动过程中，系统也能够更早发现可能存在的认知异常或记忆问题，从而为后续干预和照护提供更及时的依据。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0" y="0"/>
            <a:ext cx="12191760" cy="6857640"/>
          </a:xfrm>
          <a:custGeom>
            <a:avLst/>
            <a:gdLst/>
            <a:ah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5a7a6a">
                  <a:alpha val="95294"/>
                </a:srgbClr>
              </a:gs>
              <a:gs pos="100000">
                <a:srgbClr val="5a7a6a">
                  <a:alpha val="70196"/>
                </a:srgbClr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Shape 1"/>
          <p:cNvSpPr/>
          <p:nvPr/>
        </p:nvSpPr>
        <p:spPr>
          <a:xfrm>
            <a:off x="5753160" y="660960"/>
            <a:ext cx="685440" cy="685440"/>
          </a:xfrm>
          <a:custGeom>
            <a:avLst/>
            <a:gdLst/>
            <a:ahLst/>
            <a:rect l="l" t="t" r="r" b="b"/>
            <a:pathLst>
              <a:path w="685800" h="685800">
                <a:moveTo>
                  <a:pt x="322808" y="116666"/>
                </a:moveTo>
                <a:lnTo>
                  <a:pt x="342900" y="144393"/>
                </a:lnTo>
                <a:lnTo>
                  <a:pt x="362992" y="116666"/>
                </a:lnTo>
                <a:cubicBezTo>
                  <a:pt x="396478" y="70321"/>
                  <a:pt x="450324" y="42863"/>
                  <a:pt x="507519" y="42863"/>
                </a:cubicBezTo>
                <a:cubicBezTo>
                  <a:pt x="605969" y="42863"/>
                  <a:pt x="685800" y="122694"/>
                  <a:pt x="685800" y="221144"/>
                </a:cubicBezTo>
                <a:lnTo>
                  <a:pt x="685800" y="224626"/>
                </a:lnTo>
                <a:cubicBezTo>
                  <a:pt x="685800" y="374913"/>
                  <a:pt x="498411" y="549444"/>
                  <a:pt x="400630" y="624051"/>
                </a:cubicBezTo>
                <a:cubicBezTo>
                  <a:pt x="384021" y="636642"/>
                  <a:pt x="363662" y="642938"/>
                  <a:pt x="342900" y="642938"/>
                </a:cubicBezTo>
                <a:cubicBezTo>
                  <a:pt x="322138" y="642938"/>
                  <a:pt x="301645" y="636776"/>
                  <a:pt x="285170" y="624051"/>
                </a:cubicBezTo>
                <a:cubicBezTo>
                  <a:pt x="187389" y="549444"/>
                  <a:pt x="0" y="374913"/>
                  <a:pt x="0" y="224626"/>
                </a:cubicBezTo>
                <a:lnTo>
                  <a:pt x="0" y="221144"/>
                </a:lnTo>
                <a:cubicBezTo>
                  <a:pt x="0" y="122694"/>
                  <a:pt x="79831" y="42863"/>
                  <a:pt x="178281" y="42863"/>
                </a:cubicBezTo>
                <a:cubicBezTo>
                  <a:pt x="235476" y="42863"/>
                  <a:pt x="289322" y="70321"/>
                  <a:pt x="322808" y="116666"/>
                </a:cubicBez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2"/>
          <p:cNvSpPr/>
          <p:nvPr/>
        </p:nvSpPr>
        <p:spPr>
          <a:xfrm>
            <a:off x="4381560" y="1651320"/>
            <a:ext cx="3428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80000"/>
              </a:lnSpc>
              <a:buNone/>
            </a:pPr>
            <a:r>
              <a:rPr b="1" lang="zh-CN" sz="5400" spc="-1" strike="noStrike">
                <a:solidFill>
                  <a:srgbClr val="f8f7f4"/>
                </a:solidFill>
                <a:latin typeface="MiSans"/>
                <a:ea typeface="MiSans"/>
              </a:rPr>
              <a:t>感谢聆听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206" name="Shape 3"/>
          <p:cNvSpPr/>
          <p:nvPr/>
        </p:nvSpPr>
        <p:spPr>
          <a:xfrm>
            <a:off x="5334120" y="2642040"/>
            <a:ext cx="1523520" cy="56880"/>
          </a:xfrm>
          <a:custGeom>
            <a:avLst/>
            <a:gdLst/>
            <a:ah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4"/>
          <p:cNvSpPr/>
          <p:nvPr/>
        </p:nvSpPr>
        <p:spPr>
          <a:xfrm>
            <a:off x="4467240" y="3080160"/>
            <a:ext cx="3257280" cy="5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zh-CN" sz="2700" spc="-1" strike="noStrike">
                <a:solidFill>
                  <a:srgbClr val="f8f7f4">
                    <a:alpha val="95000"/>
                  </a:srgbClr>
                </a:solidFill>
                <a:latin typeface="MiSans"/>
                <a:ea typeface="MiSans"/>
              </a:rPr>
              <a:t>用科技守护银发时光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08" name="Text 5"/>
          <p:cNvSpPr/>
          <p:nvPr/>
        </p:nvSpPr>
        <p:spPr>
          <a:xfrm>
            <a:off x="4481640" y="3866040"/>
            <a:ext cx="322848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40000"/>
              </a:lnSpc>
              <a:buNone/>
            </a:pPr>
            <a:r>
              <a:rPr b="0" lang="zh-CN" sz="2250" spc="-1" strike="noStrike">
                <a:solidFill>
                  <a:srgbClr val="f8f7f4">
                    <a:alpha val="90000"/>
                  </a:srgbClr>
                </a:solidFill>
                <a:latin typeface="MiSans"/>
                <a:ea typeface="MiSans"/>
              </a:rPr>
              <a:t>让爱与陪伴永不缺席</a:t>
            </a:r>
            <a:endParaRPr b="0" lang="en-US" sz="2250" spc="-1" strike="noStrike">
              <a:latin typeface="Arial"/>
            </a:endParaRPr>
          </a:p>
        </p:txBody>
      </p:sp>
      <p:sp>
        <p:nvSpPr>
          <p:cNvPr id="209" name="Shape 6"/>
          <p:cNvSpPr/>
          <p:nvPr/>
        </p:nvSpPr>
        <p:spPr>
          <a:xfrm>
            <a:off x="3598200" y="5025600"/>
            <a:ext cx="285480" cy="285480"/>
          </a:xfrm>
          <a:custGeom>
            <a:avLst/>
            <a:gdLst/>
            <a:ah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7"/>
          <p:cNvSpPr/>
          <p:nvPr/>
        </p:nvSpPr>
        <p:spPr>
          <a:xfrm>
            <a:off x="3974400" y="5016240"/>
            <a:ext cx="1028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zh-CN" sz="1800" spc="-1" strike="noStrike">
                <a:solidFill>
                  <a:srgbClr val="f8f7f4">
                    <a:alpha val="90000"/>
                  </a:srgbClr>
                </a:solidFill>
                <a:latin typeface="MiSans"/>
                <a:ea typeface="MiSans"/>
              </a:rPr>
              <a:t>安全守护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1" name="Shape 8"/>
          <p:cNvSpPr/>
          <p:nvPr/>
        </p:nvSpPr>
        <p:spPr>
          <a:xfrm>
            <a:off x="5441040" y="5025600"/>
            <a:ext cx="285480" cy="285480"/>
          </a:xfrm>
          <a:custGeom>
            <a:avLst/>
            <a:gdLst/>
            <a:ahLst/>
            <a:rect l="l" t="t" r="r" b="b"/>
            <a:pathLst>
              <a:path w="285750" h="285750">
                <a:moveTo>
                  <a:pt x="134503" y="48611"/>
                </a:moveTo>
                <a:lnTo>
                  <a:pt x="142875" y="60164"/>
                </a:lnTo>
                <a:lnTo>
                  <a:pt x="151247" y="48611"/>
                </a:lnTo>
                <a:cubicBezTo>
                  <a:pt x="165199" y="29301"/>
                  <a:pt x="187635" y="17859"/>
                  <a:pt x="211466" y="17859"/>
                </a:cubicBezTo>
                <a:cubicBezTo>
                  <a:pt x="252487" y="17859"/>
                  <a:pt x="285750" y="51122"/>
                  <a:pt x="285750" y="92143"/>
                </a:cubicBezTo>
                <a:lnTo>
                  <a:pt x="285750" y="93594"/>
                </a:lnTo>
                <a:cubicBezTo>
                  <a:pt x="285750" y="156214"/>
                  <a:pt x="207671" y="228935"/>
                  <a:pt x="166929" y="260021"/>
                </a:cubicBezTo>
                <a:cubicBezTo>
                  <a:pt x="160009" y="265268"/>
                  <a:pt x="151526" y="267891"/>
                  <a:pt x="142875" y="267891"/>
                </a:cubicBezTo>
                <a:cubicBezTo>
                  <a:pt x="134224" y="267891"/>
                  <a:pt x="125685" y="265323"/>
                  <a:pt x="118821" y="260021"/>
                </a:cubicBezTo>
                <a:cubicBezTo>
                  <a:pt x="78079" y="228935"/>
                  <a:pt x="0" y="156214"/>
                  <a:pt x="0" y="93594"/>
                </a:cubicBezTo>
                <a:lnTo>
                  <a:pt x="0" y="92143"/>
                </a:lnTo>
                <a:cubicBezTo>
                  <a:pt x="0" y="51122"/>
                  <a:pt x="33263" y="17859"/>
                  <a:pt x="74284" y="17859"/>
                </a:cubicBezTo>
                <a:cubicBezTo>
                  <a:pt x="98115" y="17859"/>
                  <a:pt x="120551" y="29301"/>
                  <a:pt x="134503" y="48611"/>
                </a:cubicBez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9"/>
          <p:cNvSpPr/>
          <p:nvPr/>
        </p:nvSpPr>
        <p:spPr>
          <a:xfrm>
            <a:off x="5817240" y="5016240"/>
            <a:ext cx="1028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zh-CN" sz="1800" spc="-1" strike="noStrike">
                <a:solidFill>
                  <a:srgbClr val="f8f7f4">
                    <a:alpha val="90000"/>
                  </a:srgbClr>
                </a:solidFill>
                <a:latin typeface="MiSans"/>
                <a:ea typeface="MiSans"/>
              </a:rPr>
              <a:t>温暖陪伴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3" name="Shape 10"/>
          <p:cNvSpPr/>
          <p:nvPr/>
        </p:nvSpPr>
        <p:spPr>
          <a:xfrm>
            <a:off x="7248600" y="5025600"/>
            <a:ext cx="356760" cy="285480"/>
          </a:xfrm>
          <a:custGeom>
            <a:avLst/>
            <a:gdLst/>
            <a:ah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e6c27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1"/>
          <p:cNvSpPr/>
          <p:nvPr/>
        </p:nvSpPr>
        <p:spPr>
          <a:xfrm>
            <a:off x="7660440" y="5016240"/>
            <a:ext cx="102852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buNone/>
            </a:pPr>
            <a:r>
              <a:rPr b="0" lang="zh-CN" sz="1800" spc="-1" strike="noStrike">
                <a:solidFill>
                  <a:srgbClr val="f8f7f4">
                    <a:alpha val="90000"/>
                  </a:srgbClr>
                </a:solidFill>
                <a:latin typeface="MiSans"/>
                <a:ea typeface="MiSans"/>
              </a:rPr>
              <a:t>家庭连接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5" name="Text 12"/>
          <p:cNvSpPr/>
          <p:nvPr/>
        </p:nvSpPr>
        <p:spPr>
          <a:xfrm>
            <a:off x="5095800" y="5930640"/>
            <a:ext cx="19998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buNone/>
            </a:pPr>
            <a:r>
              <a:rPr b="0" lang="zh-CN" sz="1500" spc="-1" strike="noStrike">
                <a:solidFill>
                  <a:srgbClr val="f8f7f4">
                    <a:alpha val="70000"/>
                  </a:srgbClr>
                </a:solidFill>
                <a:latin typeface="MiSans"/>
                <a:ea typeface="MiSans"/>
              </a:rPr>
              <a:t>欢迎各位评委老师指正</a:t>
            </a:r>
            <a:endParaRPr b="0" lang="en-US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2026-04-15T12:04:00Z</dcterms:created>
  <dc:creator>Kimi</dc:creator>
  <dc:description/>
  <dc:language>en-US</dc:language>
  <cp:lastModifiedBy/>
  <dcterms:modified xsi:type="dcterms:W3CDTF">2026-04-16T14:08:42Z</dcterms:modified>
  <cp:revision>5</cp:revision>
  <dc:subject>老年陪伴Agent</dc:subject>
  <dc:title>老年陪伴Agent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{"Label":"老年陪伴Agent","ContentProducer":"001191110108MACG2KBH8F10000","ProduceID":"19d92b86-1352-8534-8000-0000a8c8875f","ReservedCode1":"","ContentPropagator":"001191110108MACG2KBH8F20000","PropagateID":"19d92b86-1352-8534-8000-0000a8c8875f","ReservedCode2":""}</vt:lpwstr>
  </property>
  <property fmtid="{D5CDD505-2E9C-101B-9397-08002B2CF9AE}" pid="3" name="ICV">
    <vt:lpwstr>21BDBC8DC12D421EB545953032D9BB57_13</vt:lpwstr>
  </property>
  <property fmtid="{D5CDD505-2E9C-101B-9397-08002B2CF9AE}" pid="4" name="KSOProductBuildVer">
    <vt:lpwstr>2052-12.1.0.23542</vt:lpwstr>
  </property>
  <property fmtid="{D5CDD505-2E9C-101B-9397-08002B2CF9AE}" pid="5" name="Notes">
    <vt:r8>11</vt:r8>
  </property>
  <property fmtid="{D5CDD505-2E9C-101B-9397-08002B2CF9AE}" pid="6" name="PresentationFormat">
    <vt:lpwstr>On-screen Show (16:9)</vt:lpwstr>
  </property>
  <property fmtid="{D5CDD505-2E9C-101B-9397-08002B2CF9AE}" pid="7" name="Slides">
    <vt:r8>12</vt:r8>
  </property>
</Properties>
</file>